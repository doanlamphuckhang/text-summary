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258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66782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51" dirty="0">
                <a:solidFill>
                  <a:srgbClr val="F7F3E9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· ĐẠI HỌC TÔN ĐỨC THẮNG · 2026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32610"/>
            <a:ext cx="1569720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08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văn bản y tế tiếng Việt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061460"/>
            <a:ext cx="14716125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dirty="0">
                <a:solidFill>
                  <a:srgbClr val="F7F3E9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Fine-tuning &amp; Number-Aware Reranking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177790"/>
            <a:ext cx="685800" cy="38100"/>
          </a:xfrm>
          <a:prstGeom prst="rect">
            <a:avLst/>
          </a:prstGeom>
          <a:solidFill>
            <a:srgbClr val="D4B2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7566660"/>
            <a:ext cx="164592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8145780"/>
            <a:ext cx="66574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F7F3E9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8561070"/>
            <a:ext cx="66574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PGS.TS. Lê Anh Cường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758946" y="8145780"/>
            <a:ext cx="47552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F7F3E9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THỰC HIỆN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58946" y="8561070"/>
            <a:ext cx="475527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F7F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52300115 · 52300135 · 52300138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756713" y="8145780"/>
            <a:ext cx="47552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F7F3E9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SO SÁNH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56713" y="8561070"/>
            <a:ext cx="1504117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90063" y="8618220"/>
            <a:ext cx="13136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356081" y="8561070"/>
            <a:ext cx="2049185" cy="434340"/>
          </a:xfrm>
          <a:prstGeom prst="roundRect">
            <a:avLst>
              <a:gd name="adj" fmla="val 50000"/>
            </a:avLst>
          </a:prstGeom>
          <a:solidFill>
            <a:srgbClr val="F3E2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489431" y="8618220"/>
            <a:ext cx="18586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BARTpho-word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56713" y="9090660"/>
            <a:ext cx="1236940" cy="434340"/>
          </a:xfrm>
          <a:prstGeom prst="roundRect">
            <a:avLst>
              <a:gd name="adj" fmla="val 50000"/>
            </a:avLst>
          </a:prstGeom>
          <a:solidFill>
            <a:srgbClr val="D4B25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90063" y="9147810"/>
            <a:ext cx="10464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· PPO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BỐI CẢNH NGHIÊN CỨU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&amp; thách thức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20265"/>
            <a:ext cx="685800" cy="3810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615565"/>
            <a:ext cx="4231838" cy="3368040"/>
          </a:xfrm>
          <a:prstGeom prst="roundRect">
            <a:avLst>
              <a:gd name="adj" fmla="val 1131"/>
            </a:avLst>
          </a:prstGeom>
          <a:solidFill>
            <a:srgbClr val="14181F"/>
          </a:solidFill>
          <a:ln w="762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6820" y="2927985"/>
            <a:ext cx="37152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F7F3E9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6820" y="3362325"/>
            <a:ext cx="37152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bài báo y tế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26820" y="3884295"/>
            <a:ext cx="3715208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~680 </a:t>
            </a:r>
            <a:r>
              <a:rPr lang="en-US" sz="1800" dirty="0">
                <a:solidFill>
                  <a:srgbClr val="F7F3E9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input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26820" y="4524375"/>
            <a:ext cx="3715208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~160 </a:t>
            </a:r>
            <a:r>
              <a:rPr lang="en-US" sz="1800" dirty="0">
                <a:solidFill>
                  <a:srgbClr val="F7F3E9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output (≈22.5%)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26820" y="5164455"/>
            <a:ext cx="3715208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</a:t>
            </a:r>
            <a:r>
              <a:rPr lang="en-US" sz="1800" dirty="0">
                <a:solidFill>
                  <a:srgbClr val="F7F3E9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chính xác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374839" y="2615565"/>
            <a:ext cx="3847147" cy="3368040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87259" y="2927985"/>
            <a:ext cx="918210" cy="434340"/>
          </a:xfrm>
          <a:prstGeom prst="roundRect">
            <a:avLst>
              <a:gd name="adj" fmla="val 50000"/>
            </a:avLst>
          </a:prstGeom>
          <a:solidFill>
            <a:srgbClr val="F4DC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20609" y="2985135"/>
            <a:ext cx="7277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87259" y="3495675"/>
            <a:ext cx="331897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nhạy cảm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87259" y="4017645"/>
            <a:ext cx="3318977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1 con số trong y tế — liều thuốc, tỉ lệ nhiễm — có thể gây hậu quả nghiêm trọng.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50586" y="2615565"/>
            <a:ext cx="3847147" cy="3368040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763006" y="2927985"/>
            <a:ext cx="1027748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96356" y="2985135"/>
            <a:ext cx="8372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63006" y="3495675"/>
            <a:ext cx="331897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quá ít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763006" y="4017645"/>
            <a:ext cx="3318977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</a:t>
            </a:r>
            <a:r>
              <a:rPr lang="en-US" sz="1800" b="1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780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mẫu y tế — không đủ để train from scratch. Cần progressive training.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526334" y="2615565"/>
            <a:ext cx="3847267" cy="3368040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838754" y="2927985"/>
            <a:ext cx="1339096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972104" y="2985135"/>
            <a:ext cx="11485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Ngôn ngữ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838754" y="3495675"/>
            <a:ext cx="3319099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 low-resource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838754" y="4368165"/>
            <a:ext cx="3319099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pretrained summarization model mạnh. Cần so sánh hai backbone.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6326505"/>
            <a:ext cx="16459200" cy="151638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6326505"/>
            <a:ext cx="53340" cy="151638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10640" y="6924675"/>
            <a:ext cx="309394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ĐỀ XUẤT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619268" y="6593205"/>
            <a:ext cx="4028122" cy="434340"/>
          </a:xfrm>
          <a:prstGeom prst="roundRect">
            <a:avLst>
              <a:gd name="adj" fmla="val 50000"/>
            </a:avLst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2618" y="6650355"/>
            <a:ext cx="38822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Fine-tuning · 3 stage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761690" y="6593205"/>
            <a:ext cx="3417808" cy="434340"/>
          </a:xfrm>
          <a:prstGeom prst="roundRect">
            <a:avLst>
              <a:gd name="adj" fmla="val 50000"/>
            </a:avLst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95040" y="6650355"/>
            <a:ext cx="325364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 an toàn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293798" y="6593205"/>
            <a:ext cx="3225522" cy="434340"/>
          </a:xfrm>
          <a:prstGeom prst="roundRect">
            <a:avLst>
              <a:gd name="adj" fmla="val 50000"/>
            </a:avLst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427148" y="6650355"/>
            <a:ext cx="30555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Number-Aware Reranking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619268" y="7141845"/>
            <a:ext cx="1963698" cy="434340"/>
          </a:xfrm>
          <a:prstGeom prst="roundRect">
            <a:avLst>
              <a:gd name="adj" fmla="val 50000"/>
            </a:avLst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2618" y="7198995"/>
            <a:ext cx="177319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Fine-tuning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90639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rot="2700000">
            <a:off x="914400" y="93364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38250" y="92811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414076" y="9281160"/>
            <a:ext cx="10357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TỔNG QUAN HỆ THỐNG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tổng quan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20265"/>
            <a:ext cx="685800" cy="3810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558415"/>
            <a:ext cx="304660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043720" y="2792730"/>
            <a:ext cx="7836813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051983" y="2501265"/>
            <a:ext cx="2335768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185333" y="2558415"/>
            <a:ext cx="21452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 · 226M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483001" y="2501265"/>
            <a:ext cx="2890599" cy="434340"/>
          </a:xfrm>
          <a:prstGeom prst="roundRect">
            <a:avLst>
              <a:gd name="adj" fmla="val 50000"/>
            </a:avLst>
          </a:prstGeom>
          <a:solidFill>
            <a:srgbClr val="F3E2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16351" y="2558415"/>
            <a:ext cx="27106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BARTpho-word · 420M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068955"/>
            <a:ext cx="5257800" cy="18507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50620" y="328612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GENERAL SFT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0620" y="366331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task summarization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50620" y="4005262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VietNews · 20k mẫu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0620" y="4382453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epochs · LR 3e-5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34100" y="380761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515100" y="3068955"/>
            <a:ext cx="5257800" cy="18507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51320" y="328612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DOMAIN ADAPT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51320" y="366331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domain y tế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51320" y="4005262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· 780→2.3k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51320" y="4382453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epochs · augmented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34800" y="380761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115800" y="3068955"/>
            <a:ext cx="5257800" cy="18507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352020" y="328612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RL FINE-TUNE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52020" y="366331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· 780 mẫu gốc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352020" y="4005262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NumRecall + Length + Diversity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52020" y="4382453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Hallucination + hard penalty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5186363"/>
            <a:ext cx="32809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PIPELINE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271248" y="5420678"/>
            <a:ext cx="13102353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4400" y="5639753"/>
            <a:ext cx="3857625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50620" y="5856923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báo y tế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50620" y="6198870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text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33925" y="6189822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5114925" y="5639753"/>
            <a:ext cx="3857625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51145" y="5856923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+ Best Model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5351145" y="6198870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 / Stage 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34450" y="6189822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315450" y="5639753"/>
            <a:ext cx="3857625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551670" y="5856923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Beam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551670" y="6198870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 candidates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134975" y="6189822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3515975" y="5639753"/>
            <a:ext cx="3857625" cy="1473517"/>
          </a:xfrm>
          <a:prstGeom prst="rect">
            <a:avLst/>
          </a:prstGeom>
          <a:solidFill>
            <a:srgbClr val="0E6E6B"/>
          </a:solidFill>
          <a:ln w="7620">
            <a:solidFill>
              <a:srgbClr val="0E6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752195" y="5856923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HẬU XỬ LÝ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752195" y="6234113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Number-Aware Rerank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3752195" y="6576060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Chọn candidate tối ưu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7341870"/>
            <a:ext cx="16459200" cy="76581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19200" y="7551420"/>
            <a:ext cx="8191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2114550" y="7551420"/>
            <a:ext cx="22490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7F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2415659" y="7551420"/>
            <a:ext cx="260270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7F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+0.50 × NumRecall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5094565" y="7551420"/>
            <a:ext cx="22490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7F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5395675" y="7551420"/>
            <a:ext cx="230552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7F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 × LenScore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7777401" y="7551420"/>
            <a:ext cx="22490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7F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8078510" y="7551420"/>
            <a:ext cx="306156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 × Hallucination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914400" y="8317230"/>
            <a:ext cx="16459200" cy="67056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14400" y="8317230"/>
            <a:ext cx="38100" cy="67056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181100" y="8488680"/>
            <a:ext cx="1645767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Reranking cải thiện chất lượng số liệu mà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train thêm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chỉ tốn ×k thời gian inference.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14400" y="90639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 rot="2700000">
            <a:off x="914400" y="93364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238250" y="92811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6411337" y="9281160"/>
            <a:ext cx="103846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DỮ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2990"/>
            <a:ext cx="16952976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63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&amp; sinh nhãn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813560"/>
            <a:ext cx="685800" cy="3810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18360"/>
            <a:ext cx="82802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THU THẬP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628900"/>
            <a:ext cx="8039100" cy="97536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0620" y="2769870"/>
            <a:ext cx="77936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0620" y="3089910"/>
            <a:ext cx="77936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VnExpress Sức khỏe · 5 chuyên mục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3814" y="3680460"/>
            <a:ext cx="82802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076700"/>
            <a:ext cx="8039100" cy="948690"/>
          </a:xfrm>
          <a:prstGeom prst="roundRect">
            <a:avLst>
              <a:gd name="adj" fmla="val 401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50620" y="4217670"/>
            <a:ext cx="77936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0620" y="4537710"/>
            <a:ext cx="779366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4 workers · resume theo ID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814" y="5101590"/>
            <a:ext cx="82802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5497830"/>
            <a:ext cx="8039100" cy="948690"/>
          </a:xfrm>
          <a:prstGeom prst="roundRect">
            <a:avLst>
              <a:gd name="adj" fmla="val 401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50620" y="5638800"/>
            <a:ext cx="77936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clean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0620" y="5958840"/>
            <a:ext cx="779366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1,429 </a:t>
            </a: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→ </a:t>
            </a:r>
            <a:r>
              <a:rPr lang="en-US" sz="195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1,422 </a:t>
            </a: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lệ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3814" y="6522720"/>
            <a:ext cx="82802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918960"/>
            <a:ext cx="8039100" cy="1066800"/>
          </a:xfrm>
          <a:prstGeom prst="roundRect">
            <a:avLst>
              <a:gd name="adj" fmla="val 3571"/>
            </a:avLst>
          </a:prstGeom>
          <a:solidFill>
            <a:srgbClr val="0E6E6B"/>
          </a:solidFill>
          <a:ln w="7620">
            <a:solidFill>
              <a:srgbClr val="0E6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50620" y="7078980"/>
            <a:ext cx="77936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0620" y="7399020"/>
            <a:ext cx="779366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979 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cặp (source, summary)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334500" y="2118360"/>
            <a:ext cx="82802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EXTRACTIVE LABELING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34500" y="2628900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96400" y="26289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25050" y="2628900"/>
            <a:ext cx="767200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câu bằng regex tiếng Việt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925050" y="3044190"/>
            <a:ext cx="475355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cắt giữa số liệu ("12,5 mg" giữ nguyên)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34500" y="3429000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96400" y="34290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25050" y="3429000"/>
            <a:ext cx="767200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câu theo set-cover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925050" y="3844290"/>
            <a:ext cx="312889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toàn 100% số liệu unique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34500" y="4229100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96400" y="42291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25050" y="4229100"/>
            <a:ext cx="767200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sung câu nếu summary ngắn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925050" y="4644390"/>
            <a:ext cx="314115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Đảm bảo length ratio mục tiêu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334500" y="5029200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96400" y="50292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925050" y="5029200"/>
            <a:ext cx="767200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theo tiêu chí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9925050" y="5459730"/>
            <a:ext cx="735291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number_accuracy = 100% · length_ratio ∈ [0.18, 0.30]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334500" y="5844540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96400" y="584454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925050" y="5844540"/>
            <a:ext cx="767200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 80 / 10 / 10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925050" y="6259830"/>
            <a:ext cx="369129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category để cân bằng test set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334500" y="6682740"/>
            <a:ext cx="2603421" cy="1108710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437370" y="6823710"/>
            <a:ext cx="2397681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780</a:t>
            </a:r>
            <a:endParaRPr lang="en-US" sz="2850" dirty="0"/>
          </a:p>
        </p:txBody>
      </p:sp>
      <p:sp>
        <p:nvSpPr>
          <p:cNvPr id="44" name="Text 42"/>
          <p:cNvSpPr/>
          <p:nvPr/>
        </p:nvSpPr>
        <p:spPr>
          <a:xfrm>
            <a:off x="9437370" y="7330440"/>
            <a:ext cx="239768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2052221" y="6682740"/>
            <a:ext cx="2603540" cy="1108710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2155091" y="6823710"/>
            <a:ext cx="239780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2850" dirty="0"/>
          </a:p>
        </p:txBody>
      </p:sp>
      <p:sp>
        <p:nvSpPr>
          <p:cNvPr id="47" name="Text 45"/>
          <p:cNvSpPr/>
          <p:nvPr/>
        </p:nvSpPr>
        <p:spPr>
          <a:xfrm>
            <a:off x="12155091" y="7330440"/>
            <a:ext cx="23978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4770060" y="6682740"/>
            <a:ext cx="2603421" cy="1108710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4872931" y="6823710"/>
            <a:ext cx="2397681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2850" dirty="0"/>
          </a:p>
        </p:txBody>
      </p:sp>
      <p:sp>
        <p:nvSpPr>
          <p:cNvPr id="50" name="Text 48"/>
          <p:cNvSpPr/>
          <p:nvPr/>
        </p:nvSpPr>
        <p:spPr>
          <a:xfrm>
            <a:off x="14872931" y="7330440"/>
            <a:ext cx="239768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14400" y="8138160"/>
            <a:ext cx="16459200" cy="59436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14400" y="8138160"/>
            <a:ext cx="38100" cy="59436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181100" y="8271510"/>
            <a:ext cx="1645767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Nhãn extractive đảm bảo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số liệu chính xác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không cần annotator thủ công.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14400" y="92163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 rot="2700000">
            <a:off x="914400" y="94888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238250" y="94335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6400859" y="9433560"/>
            <a:ext cx="104894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DỮ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&amp; phân bố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20265"/>
            <a:ext cx="685800" cy="3810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501265"/>
            <a:ext cx="6262688" cy="6541770"/>
          </a:xfrm>
          <a:prstGeom prst="roundRect">
            <a:avLst>
              <a:gd name="adj" fmla="val 608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6820" y="2813685"/>
            <a:ext cx="580698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chung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26820" y="3914775"/>
            <a:ext cx="2414349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98270" y="3469005"/>
            <a:ext cx="214764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41169" y="3914775"/>
            <a:ext cx="1165860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36419" y="3469005"/>
            <a:ext cx="89916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07030" y="3914775"/>
            <a:ext cx="1028819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02280" y="3469005"/>
            <a:ext cx="76211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35848" y="3914775"/>
            <a:ext cx="1028819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31098" y="3469005"/>
            <a:ext cx="76211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26820" y="4520565"/>
            <a:ext cx="241434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98270" y="4063365"/>
            <a:ext cx="21476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mẫu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41169" y="452056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36419" y="4063365"/>
            <a:ext cx="8991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07030" y="452056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02280" y="4063365"/>
            <a:ext cx="7621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835848" y="452056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31098" y="4063365"/>
            <a:ext cx="7621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26820" y="5114925"/>
            <a:ext cx="241434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98270" y="4661535"/>
            <a:ext cx="21476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source words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41169" y="511492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36419" y="4661535"/>
            <a:ext cx="899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679.9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07030" y="511492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02280" y="4661535"/>
            <a:ext cx="762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683.1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835848" y="511492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31098" y="4661535"/>
            <a:ext cx="762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697.5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26820" y="5709285"/>
            <a:ext cx="241434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98270" y="5255895"/>
            <a:ext cx="21476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summary words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41169" y="570928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36419" y="5255895"/>
            <a:ext cx="899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159.9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807030" y="570928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02280" y="5255895"/>
            <a:ext cx="762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158.9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835848" y="570928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31098" y="5255895"/>
            <a:ext cx="762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164.4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26820" y="6303645"/>
            <a:ext cx="241434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398270" y="5850255"/>
            <a:ext cx="21476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length ratio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641169" y="630364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36419" y="5850255"/>
            <a:ext cx="899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0.235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807030" y="630364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02280" y="5850255"/>
            <a:ext cx="762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0.234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835848" y="630364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31098" y="5850255"/>
            <a:ext cx="762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0.238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26820" y="6898005"/>
            <a:ext cx="241434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98270" y="6444615"/>
            <a:ext cx="21476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accuracy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3641169" y="689800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736419" y="6444615"/>
            <a:ext cx="899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807030" y="689800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02280" y="6444615"/>
            <a:ext cx="762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835848" y="689800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31098" y="6444615"/>
            <a:ext cx="762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226820" y="7812405"/>
            <a:ext cx="241434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398270" y="7038975"/>
            <a:ext cx="214764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 comply [20-25%]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641169" y="781240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736419" y="7038975"/>
            <a:ext cx="89916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73.1%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4807030" y="781240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902280" y="7038975"/>
            <a:ext cx="76211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74.5%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835848" y="7812405"/>
            <a:ext cx="102881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931098" y="7038975"/>
            <a:ext cx="76211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71.4%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398270" y="7953375"/>
            <a:ext cx="214764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unique nums/bài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3736419" y="7953375"/>
            <a:ext cx="89916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8.83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4902280" y="7953375"/>
            <a:ext cx="76211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9.10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5931098" y="7953375"/>
            <a:ext cx="76211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8.95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7443788" y="2501265"/>
            <a:ext cx="5487829" cy="6541770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756207" y="2813685"/>
            <a:ext cx="500887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bố category</a:t>
            </a:r>
            <a:endParaRPr lang="en-US" sz="2400" dirty="0"/>
          </a:p>
        </p:txBody>
      </p:sp>
      <p:sp>
        <p:nvSpPr>
          <p:cNvPr id="69" name="Shape 67"/>
          <p:cNvSpPr/>
          <p:nvPr/>
        </p:nvSpPr>
        <p:spPr>
          <a:xfrm>
            <a:off x="7756207" y="3914775"/>
            <a:ext cx="1859042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927657" y="3469005"/>
            <a:ext cx="159234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9615250" y="3914775"/>
            <a:ext cx="1165860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710500" y="3469005"/>
            <a:ext cx="89916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781109" y="3914775"/>
            <a:ext cx="836771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0876359" y="3469005"/>
            <a:ext cx="57007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1617880" y="3914775"/>
            <a:ext cx="1001316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1713130" y="3469005"/>
            <a:ext cx="73461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7756207" y="4520565"/>
            <a:ext cx="185904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927657" y="4063365"/>
            <a:ext cx="15923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sức-khỏe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9615250" y="452056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9710500" y="4063365"/>
            <a:ext cx="8991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223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0781109" y="4520565"/>
            <a:ext cx="83677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0876359" y="4063365"/>
            <a:ext cx="5700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1617880" y="4520565"/>
            <a:ext cx="100131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1713130" y="4063365"/>
            <a:ext cx="734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7756207" y="5114925"/>
            <a:ext cx="185904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927657" y="4661535"/>
            <a:ext cx="159234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sống-khỏe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9615250" y="511492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9710500" y="4661535"/>
            <a:ext cx="899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10781109" y="5114925"/>
            <a:ext cx="83677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0876359" y="4661535"/>
            <a:ext cx="5700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11617880" y="5114925"/>
            <a:ext cx="100131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1713130" y="4661535"/>
            <a:ext cx="7346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7756207" y="5709285"/>
            <a:ext cx="185904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927657" y="5255895"/>
            <a:ext cx="159234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tin-tức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9615250" y="570928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9710500" y="5255895"/>
            <a:ext cx="899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10781109" y="5709285"/>
            <a:ext cx="83677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0876359" y="5255895"/>
            <a:ext cx="5700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11617880" y="5709285"/>
            <a:ext cx="100131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1713130" y="5255895"/>
            <a:ext cx="7346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7756207" y="6303645"/>
            <a:ext cx="185904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927657" y="5850255"/>
            <a:ext cx="159234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vaccine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9615250" y="6303645"/>
            <a:ext cx="116586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9710500" y="5850255"/>
            <a:ext cx="899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10781109" y="6303645"/>
            <a:ext cx="83677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0876359" y="5850255"/>
            <a:ext cx="5700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11617880" y="6303645"/>
            <a:ext cx="100131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1713130" y="5850255"/>
            <a:ext cx="7346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7927657" y="6444615"/>
            <a:ext cx="15923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các-bệnh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9710500" y="6444615"/>
            <a:ext cx="8991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800" dirty="0"/>
          </a:p>
        </p:txBody>
      </p:sp>
      <p:sp>
        <p:nvSpPr>
          <p:cNvPr id="111" name="Text 109"/>
          <p:cNvSpPr/>
          <p:nvPr/>
        </p:nvSpPr>
        <p:spPr>
          <a:xfrm>
            <a:off x="10876359" y="6444615"/>
            <a:ext cx="5700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800" dirty="0"/>
          </a:p>
        </p:txBody>
      </p:sp>
      <p:sp>
        <p:nvSpPr>
          <p:cNvPr id="112" name="Text 110"/>
          <p:cNvSpPr/>
          <p:nvPr/>
        </p:nvSpPr>
        <p:spPr>
          <a:xfrm>
            <a:off x="11713130" y="6444615"/>
            <a:ext cx="734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13198316" y="2501265"/>
            <a:ext cx="4175165" cy="2026920"/>
          </a:xfrm>
          <a:prstGeom prst="roundRect">
            <a:avLst>
              <a:gd name="adj" fmla="val 1880"/>
            </a:avLst>
          </a:prstGeom>
          <a:solidFill>
            <a:srgbClr val="DDEEDF"/>
          </a:solidFill>
          <a:ln w="7620">
            <a:solidFill>
              <a:srgbClr val="2F7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13510737" y="2813685"/>
            <a:ext cx="365683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13510737" y="3209925"/>
            <a:ext cx="365683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715</a:t>
            </a:r>
            <a:r>
              <a:rPr lang="en-US" sz="240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73%</a:t>
            </a:r>
            <a:endParaRPr lang="en-US" sz="4800" dirty="0"/>
          </a:p>
        </p:txBody>
      </p:sp>
      <p:sp>
        <p:nvSpPr>
          <p:cNvPr id="116" name="Text 114"/>
          <p:cNvSpPr/>
          <p:nvPr/>
        </p:nvSpPr>
        <p:spPr>
          <a:xfrm>
            <a:off x="13510737" y="3895725"/>
            <a:ext cx="365683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∈ [0.20, 0.25]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13198316" y="4756785"/>
            <a:ext cx="4175165" cy="2026920"/>
          </a:xfrm>
          <a:prstGeom prst="roundRect">
            <a:avLst>
              <a:gd name="adj" fmla="val 1880"/>
            </a:avLst>
          </a:prstGeom>
          <a:solidFill>
            <a:srgbClr val="ECE7DA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13510737" y="5069205"/>
            <a:ext cx="365683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800" dirty="0"/>
          </a:p>
        </p:txBody>
      </p:sp>
      <p:sp>
        <p:nvSpPr>
          <p:cNvPr id="119" name="Text 117"/>
          <p:cNvSpPr/>
          <p:nvPr/>
        </p:nvSpPr>
        <p:spPr>
          <a:xfrm>
            <a:off x="13510737" y="5465445"/>
            <a:ext cx="365683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264</a:t>
            </a:r>
            <a:r>
              <a:rPr lang="en-US" sz="240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27%</a:t>
            </a:r>
            <a:endParaRPr lang="en-US" sz="4800" dirty="0"/>
          </a:p>
        </p:txBody>
      </p:sp>
      <p:sp>
        <p:nvSpPr>
          <p:cNvPr id="120" name="Text 118"/>
          <p:cNvSpPr/>
          <p:nvPr/>
        </p:nvSpPr>
        <p:spPr>
          <a:xfrm>
            <a:off x="13510737" y="6151245"/>
            <a:ext cx="365683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∈ [0.18, 0.30]</a:t>
            </a:r>
            <a:endParaRPr lang="en-US" sz="1800" dirty="0"/>
          </a:p>
        </p:txBody>
      </p:sp>
      <p:sp>
        <p:nvSpPr>
          <p:cNvPr id="121" name="Shape 119"/>
          <p:cNvSpPr/>
          <p:nvPr/>
        </p:nvSpPr>
        <p:spPr>
          <a:xfrm>
            <a:off x="914400" y="90639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 rot="2700000">
            <a:off x="914400" y="93364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1238250" y="92811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124" name="Text 122"/>
          <p:cNvSpPr/>
          <p:nvPr/>
        </p:nvSpPr>
        <p:spPr>
          <a:xfrm>
            <a:off x="16411337" y="9281160"/>
            <a:ext cx="103846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DỮ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an toàn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20265"/>
            <a:ext cx="685800" cy="3810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501265"/>
            <a:ext cx="8077200" cy="1478280"/>
          </a:xfrm>
          <a:prstGeom prst="rect">
            <a:avLst/>
          </a:prstGeom>
          <a:solidFill>
            <a:srgbClr val="F4DC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501265"/>
            <a:ext cx="38100" cy="14782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1100" y="2672715"/>
            <a:ext cx="78093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1100" y="3049905"/>
            <a:ext cx="78093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mẫu là quá ít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1100" y="3488055"/>
            <a:ext cx="78093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tăng data nhưng không được làm sai số liệu y tế.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96400" y="2501265"/>
            <a:ext cx="8077200" cy="1478280"/>
          </a:xfrm>
          <a:prstGeom prst="rect">
            <a:avLst/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96400" y="2501265"/>
            <a:ext cx="38100" cy="147828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63100" y="2672715"/>
            <a:ext cx="78093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63100" y="3049905"/>
            <a:ext cx="78093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synonym replacement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63100" y="3488055"/>
            <a:ext cx="78093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thay từ đồng nghĩa — không động vào số.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284345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PIPELINE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737735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50620" y="4954905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mẫu gốc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50620" y="5296853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source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33925" y="509920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114925" y="4737735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51145" y="4954905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 replace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351145" y="5296853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cặp y tế · p = 18%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34450" y="509920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315450" y="4737735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51670" y="4954905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numbers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551670" y="5296853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nums(aug) == nums(gốc)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134975" y="509920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3515975" y="4737735"/>
            <a:ext cx="3857625" cy="1096327"/>
          </a:xfrm>
          <a:prstGeom prst="rect">
            <a:avLst/>
          </a:prstGeom>
          <a:solidFill>
            <a:srgbClr val="2F7D3A"/>
          </a:solidFill>
          <a:ln w="7620">
            <a:solidFill>
              <a:srgbClr val="2F7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52195" y="4954905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~2,300 mẫu (×3)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3752195" y="5296853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Augmented dataset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6138863"/>
            <a:ext cx="9445586" cy="2865120"/>
          </a:xfrm>
          <a:prstGeom prst="roundRect">
            <a:avLst>
              <a:gd name="adj" fmla="val 1330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26820" y="6451282"/>
            <a:ext cx="908536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điển đồng nghĩa y tế · 13 cặp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26820" y="6973253"/>
            <a:ext cx="4405272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tình trạng bệnh / vấn đề sức khỏe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70483" y="6973253"/>
            <a:ext cx="440539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trị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chữa trị / can thiệp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26820" y="7750493"/>
            <a:ext cx="440527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triệu chứng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biểu hiện / dấu hiệu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770483" y="7750493"/>
            <a:ext cx="4405395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chuyên gia / nhân viên y tế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26820" y="8196262"/>
            <a:ext cx="440527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vaccine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vắc xin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770483" y="8196262"/>
            <a:ext cx="4405395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ngừa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dự phòng / ngăn ngừa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626685" y="6138863"/>
            <a:ext cx="6746796" cy="2865120"/>
          </a:xfrm>
          <a:prstGeom prst="roundRect">
            <a:avLst>
              <a:gd name="adj" fmla="val 1330"/>
            </a:avLst>
          </a:prstGeom>
          <a:solidFill>
            <a:srgbClr val="14181F"/>
          </a:solidFill>
          <a:ln w="762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939106" y="6451282"/>
            <a:ext cx="630561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ĐIỂM AN TOÀN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939106" y="6904673"/>
            <a:ext cx="630561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Chỉ thay từ — không thay số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939106" y="7259003"/>
            <a:ext cx="6305615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Verify </a:t>
            </a:r>
            <a:r>
              <a:rPr lang="en-US" sz="1800" dirty="0">
                <a:solidFill>
                  <a:srgbClr val="F7F3E9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extract_numbers() </a:t>
            </a:r>
            <a:r>
              <a:rPr lang="en-US" sz="1800" dirty="0">
                <a:solidFill>
                  <a:srgbClr val="F7F3E9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accept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939106" y="7628573"/>
            <a:ext cx="630561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Reject nếu numbers thay đổi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939106" y="7982903"/>
            <a:ext cx="630561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Summary giữ nguyên — chỉ augment source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939106" y="8337232"/>
            <a:ext cx="630561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Back-translation tắt (tránh sai số)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90639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rot="2700000">
            <a:off x="914400" y="93364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238250" y="92811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406812" y="9281160"/>
            <a:ext cx="10429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model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20265"/>
            <a:ext cx="685800" cy="28575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491740"/>
            <a:ext cx="7308175" cy="6572250"/>
          </a:xfrm>
          <a:prstGeom prst="roundRect">
            <a:avLst>
              <a:gd name="adj" fmla="val 580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6820" y="2846070"/>
            <a:ext cx="174902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37057" y="2804160"/>
            <a:ext cx="973098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70407" y="2861310"/>
            <a:ext cx="78259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26820" y="3992880"/>
            <a:ext cx="275308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98270" y="3543300"/>
            <a:ext cx="249277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79902" y="3992880"/>
            <a:ext cx="393025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51352" y="3543300"/>
            <a:ext cx="3705261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Encoder-Decoder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26820" y="4587240"/>
            <a:ext cx="275308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98270" y="4133850"/>
            <a:ext cx="24927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/ Decoder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979902" y="4587240"/>
            <a:ext cx="393025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33445" y="4133850"/>
            <a:ext cx="37052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+ 12 layers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26820" y="5181600"/>
            <a:ext cx="275308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98270" y="4728210"/>
            <a:ext cx="24927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d_model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79902" y="5181600"/>
            <a:ext cx="393025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33445" y="4728210"/>
            <a:ext cx="37052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26820" y="5775960"/>
            <a:ext cx="275308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98270" y="5322570"/>
            <a:ext cx="24927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heads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979902" y="5775960"/>
            <a:ext cx="393025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33445" y="5322570"/>
            <a:ext cx="37052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26820" y="6370320"/>
            <a:ext cx="275308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98270" y="5916930"/>
            <a:ext cx="24927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d_ff (FFN)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979902" y="6370320"/>
            <a:ext cx="393025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33445" y="5916930"/>
            <a:ext cx="37052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3072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26820" y="6964680"/>
            <a:ext cx="275308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98270" y="6511290"/>
            <a:ext cx="24927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979902" y="6964680"/>
            <a:ext cx="393025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33445" y="6511290"/>
            <a:ext cx="37052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~226M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26820" y="7559040"/>
            <a:ext cx="275308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98270" y="7105650"/>
            <a:ext cx="24927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979902" y="7559040"/>
            <a:ext cx="393025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51352" y="7105650"/>
            <a:ext cx="37052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 · 36,096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26820" y="8153400"/>
            <a:ext cx="275308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98270" y="7700010"/>
            <a:ext cx="24927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979902" y="8153400"/>
            <a:ext cx="393025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51352" y="7700010"/>
            <a:ext cx="37052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attention bias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98270" y="8294370"/>
            <a:ext cx="24927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151352" y="8294370"/>
            <a:ext cx="37052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corruption · CC-100 Vi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603575" y="2491740"/>
            <a:ext cx="90331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FLOW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603575" y="2964180"/>
            <a:ext cx="8770025" cy="67818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839795" y="3143250"/>
            <a:ext cx="854651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Text → SentencePiece → Token IDs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472025" y="3756660"/>
            <a:ext cx="90331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603575" y="4191000"/>
            <a:ext cx="8770025" cy="1499235"/>
          </a:xfrm>
          <a:prstGeom prst="roundRect">
            <a:avLst>
              <a:gd name="adj" fmla="val 2541"/>
            </a:avLst>
          </a:prstGeom>
          <a:solidFill>
            <a:srgbClr val="DDE7F6"/>
          </a:solidFill>
          <a:ln w="7620">
            <a:solidFill>
              <a:srgbClr val="2A5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877895" y="4408170"/>
            <a:ext cx="84680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· 12×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877895" y="4766310"/>
            <a:ext cx="846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+ FFN + LayerNorm</a:t>
            </a:r>
            <a:endParaRPr lang="en-US" sz="1875" dirty="0"/>
          </a:p>
        </p:txBody>
      </p:sp>
      <p:sp>
        <p:nvSpPr>
          <p:cNvPr id="50" name="Text 48"/>
          <p:cNvSpPr/>
          <p:nvPr/>
        </p:nvSpPr>
        <p:spPr>
          <a:xfrm>
            <a:off x="8877895" y="5137785"/>
            <a:ext cx="846802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hidden states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472025" y="5804535"/>
            <a:ext cx="90331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cross-attention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603575" y="6238875"/>
            <a:ext cx="8770025" cy="1141095"/>
          </a:xfrm>
          <a:prstGeom prst="roundRect">
            <a:avLst>
              <a:gd name="adj" fmla="val 3339"/>
            </a:avLst>
          </a:prstGeom>
          <a:solidFill>
            <a:srgbClr val="DDE7F6"/>
          </a:solidFill>
          <a:ln w="7620">
            <a:solidFill>
              <a:srgbClr val="2A5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877895" y="6456045"/>
            <a:ext cx="84680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· 12×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877895" y="6814185"/>
            <a:ext cx="8468026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Self-Attn + Cross-Attn(</a:t>
            </a: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FFN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8472025" y="7494270"/>
            <a:ext cx="90331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8603575" y="7928610"/>
            <a:ext cx="8770025" cy="67818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839795" y="8107680"/>
            <a:ext cx="854651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Beam Search / Sampling → Summary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14400" y="90639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 rot="2700000">
            <a:off x="914400" y="93364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38250" y="92811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6429673" y="9281160"/>
            <a:ext cx="10201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2990"/>
            <a:ext cx="16952976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63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summarization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080260"/>
            <a:ext cx="8461772" cy="4705350"/>
          </a:xfrm>
          <a:prstGeom prst="roundRect">
            <a:avLst>
              <a:gd name="adj" fmla="val 810"/>
            </a:avLst>
          </a:prstGeom>
          <a:solidFill>
            <a:srgbClr val="14181F"/>
          </a:solidFill>
          <a:ln w="762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6820" y="2392680"/>
            <a:ext cx="80720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CẦN STAGE 1?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26820" y="2884170"/>
            <a:ext cx="8072040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F7F3E9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75" dirty="0">
                <a:solidFill>
                  <a:srgbClr val="F7F3E9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vit5-base </a:t>
            </a:r>
            <a:r>
              <a:rPr lang="en-US" sz="1875" dirty="0">
                <a:solidFill>
                  <a:srgbClr val="F7F3E9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biết span-corruption — chưa biết "tóm tắt"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26820" y="3389947"/>
            <a:ext cx="80720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F7F3E9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780 mẫu y tế quá ít — vừa học task vừa domain → overfit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26820" y="3880485"/>
            <a:ext cx="80720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F7F3E9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Giải pháp: dạy task trên VietNews 20k trước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26820" y="4371022"/>
            <a:ext cx="80720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F7F3E9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2 chỉ còn việc adapt domain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680972" y="2080260"/>
            <a:ext cx="7692628" cy="4705350"/>
          </a:xfrm>
          <a:prstGeom prst="roundRect">
            <a:avLst>
              <a:gd name="adj" fmla="val 810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93392" y="2392680"/>
            <a:ext cx="727982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93392" y="3497580"/>
            <a:ext cx="27172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64842" y="3048000"/>
            <a:ext cx="2455862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10637" y="3497580"/>
            <a:ext cx="43505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82087" y="3048000"/>
            <a:ext cx="413816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VietNews 20k · filter mềm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93392" y="4091940"/>
            <a:ext cx="27172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64842" y="3638550"/>
            <a:ext cx="245586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710637" y="4091940"/>
            <a:ext cx="43505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751571" y="3638550"/>
            <a:ext cx="4138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93392" y="4686300"/>
            <a:ext cx="27172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64842" y="4232910"/>
            <a:ext cx="245586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710637" y="4686300"/>
            <a:ext cx="43505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751571" y="4232910"/>
            <a:ext cx="4138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3e-5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93392" y="5280660"/>
            <a:ext cx="27172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64842" y="4827270"/>
            <a:ext cx="245586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batch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710637" y="5280660"/>
            <a:ext cx="43505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751571" y="4827270"/>
            <a:ext cx="4138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(16 × accum 2)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993392" y="5875020"/>
            <a:ext cx="27172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64842" y="5421630"/>
            <a:ext cx="245586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710637" y="5875020"/>
            <a:ext cx="435054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82087" y="5421630"/>
            <a:ext cx="4138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164842" y="6015990"/>
            <a:ext cx="24558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82087" y="6015990"/>
            <a:ext cx="41381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 = 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709041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FLOW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14400" y="7543800"/>
            <a:ext cx="5257800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50620" y="7760970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50620" y="8138160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VietAI/vit5-base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50620" y="8480107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span-corruption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34100" y="809386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6515100" y="7543800"/>
            <a:ext cx="5257800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51320" y="7760970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751320" y="8138160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VietNews 20k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6751320" y="8480107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epochs · bf16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734800" y="809386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2115800" y="7543800"/>
            <a:ext cx="5257800" cy="1473517"/>
          </a:xfrm>
          <a:prstGeom prst="rect">
            <a:avLst/>
          </a:prstGeom>
          <a:solidFill>
            <a:srgbClr val="2A5FB3"/>
          </a:solidFill>
          <a:ln w="7620">
            <a:solidFill>
              <a:srgbClr val="2A5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2352020" y="7760970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2352020" y="8138160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Checkpoint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2352020" y="8480107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Sẵn sàng cho Stage 2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14400" y="9245918"/>
            <a:ext cx="16459200" cy="66294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14400" y="9245918"/>
            <a:ext cx="38100" cy="66294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81100" y="9417368"/>
            <a:ext cx="164576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Đánh giá trên 2,000 mẫu VietNews · beam search 4 · ROUGE-1/2/L · BERTScore. Kết quả trình bày qua demo code.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14400" y="9908858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 rot="2700000">
            <a:off x="914400" y="10181272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238250" y="10126027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6416338" y="10126027"/>
            <a:ext cx="103346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adaptation y tế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425065"/>
            <a:ext cx="5257800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50620" y="264223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0620" y="301942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checkpoint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134100" y="297513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15100" y="2425065"/>
            <a:ext cx="5257800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51320" y="264223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51320" y="301942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2.3k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51320" y="3361372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augmented · 6 epochs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34800" y="297513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15800" y="2425065"/>
            <a:ext cx="5257800" cy="1473517"/>
          </a:xfrm>
          <a:prstGeom prst="rect">
            <a:avLst/>
          </a:prstGeom>
          <a:solidFill>
            <a:srgbClr val="2A5FB3"/>
          </a:solidFill>
          <a:ln w="7620">
            <a:solidFill>
              <a:srgbClr val="2A5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52020" y="264223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52020" y="301942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best model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52020" y="3361372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Chuyên domain y tế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241483"/>
            <a:ext cx="8811459" cy="5307330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26820" y="4553903"/>
            <a:ext cx="843221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 biệt vs Stage 1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26820" y="5654993"/>
            <a:ext cx="3520797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98270" y="5209223"/>
            <a:ext cx="328352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SỐ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47617" y="5654993"/>
            <a:ext cx="2497931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067" y="5209223"/>
            <a:ext cx="223123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45548" y="5654993"/>
            <a:ext cx="2167890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16998" y="5209223"/>
            <a:ext cx="190119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26820" y="6260782"/>
            <a:ext cx="35207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98270" y="5803582"/>
            <a:ext cx="32835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47617" y="6260782"/>
            <a:ext cx="249793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067" y="5803582"/>
            <a:ext cx="22312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VietNews 20k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45548" y="6260782"/>
            <a:ext cx="216789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16998" y="5803582"/>
            <a:ext cx="1901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2.3k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26820" y="6855143"/>
            <a:ext cx="35207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98270" y="6401753"/>
            <a:ext cx="32835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MAX_TARGET_LEN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47617" y="6855143"/>
            <a:ext cx="249793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2867" y="6401753"/>
            <a:ext cx="22312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45548" y="6855143"/>
            <a:ext cx="216789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40798" y="6401753"/>
            <a:ext cx="19011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26820" y="7449503"/>
            <a:ext cx="35207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98270" y="6996112"/>
            <a:ext cx="32835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GEN_MIN_LEN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747617" y="7449503"/>
            <a:ext cx="249793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2867" y="6996112"/>
            <a:ext cx="22312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245548" y="7449503"/>
            <a:ext cx="216789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40798" y="6996112"/>
            <a:ext cx="19011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26820" y="8043863"/>
            <a:ext cx="35207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98270" y="7590473"/>
            <a:ext cx="32835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smoothing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747617" y="8043863"/>
            <a:ext cx="249793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2867" y="7590473"/>
            <a:ext cx="22312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245548" y="8043863"/>
            <a:ext cx="216789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40798" y="7590473"/>
            <a:ext cx="19011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226820" y="8638222"/>
            <a:ext cx="35207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398270" y="8184832"/>
            <a:ext cx="32835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metric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747617" y="8638222"/>
            <a:ext cx="249793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19067" y="8184832"/>
            <a:ext cx="22312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eval_loss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7245548" y="8638222"/>
            <a:ext cx="216789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416998" y="8184832"/>
            <a:ext cx="19011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rougeL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398270" y="8779193"/>
            <a:ext cx="32835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842867" y="8779193"/>
            <a:ext cx="22312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340798" y="8779193"/>
            <a:ext cx="19011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030659" y="4241483"/>
            <a:ext cx="7342942" cy="5307330"/>
          </a:xfrm>
          <a:prstGeom prst="roundRect">
            <a:avLst>
              <a:gd name="adj" fmla="val 718"/>
            </a:avLst>
          </a:prstGeom>
          <a:solidFill>
            <a:srgbClr val="DDE7F6"/>
          </a:solidFill>
          <a:ln w="7620">
            <a:solidFill>
              <a:srgbClr val="2A5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343079" y="4553903"/>
            <a:ext cx="691964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đa chiều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10343079" y="5075873"/>
            <a:ext cx="69196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ROUGE-1 / 2 / L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BERTScore F1 </a:t>
            </a: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nội dung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343079" y="5895023"/>
            <a:ext cx="691964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Recall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|pred ∩ src| / |src|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0343079" y="6394132"/>
            <a:ext cx="691964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Hallucination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|pred \ src| / |pred|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0343079" y="6893243"/>
            <a:ext cx="69196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compliance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ratio ∈ [20%, 25%]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14400" y="9548813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 rot="2700000">
            <a:off x="914400" y="9821228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238250" y="9765983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6406812" y="9765983"/>
            <a:ext cx="10429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VIETAI CHECKPOINT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cách tiếp cận Stage 1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2425065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1 · SELF-TRAINED STAGE 1 (20K MẪU)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840355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620" y="3057525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50620" y="3399472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33925" y="320182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14925" y="2840355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51145" y="3057525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351145" y="3399472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VietNews 20k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34450" y="320182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15450" y="2840355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51670" y="3057525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51670" y="3399472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2.3k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134975" y="320182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515975" y="2840355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52195" y="3057525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52195" y="3399472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127183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2 · VIETAI CHECKPOINT (~150K MẪU, BỎ QUA STAGE 1)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542472"/>
            <a:ext cx="5257800" cy="1096327"/>
          </a:xfrm>
          <a:prstGeom prst="rect">
            <a:avLst/>
          </a:prstGeom>
          <a:solidFill>
            <a:srgbClr val="DDE7F6"/>
          </a:solidFill>
          <a:ln w="7620">
            <a:solidFill>
              <a:srgbClr val="2A5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50620" y="4759643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vit5-base-vietnews-summarization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50620" y="5101590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VietAI · ~150k mẫu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34100" y="4903947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515100" y="4542472"/>
            <a:ext cx="5257800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51320" y="4759643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751320" y="5101590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2.3k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34800" y="4903947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2115800" y="4542472"/>
            <a:ext cx="5257800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352020" y="4759643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352020" y="5101590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943600"/>
            <a:ext cx="8481775" cy="4141470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26820" y="6256020"/>
            <a:ext cx="809264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log · Checkpoint → Stage 2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226820" y="7357110"/>
            <a:ext cx="2223611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22070" y="6911340"/>
            <a:ext cx="195691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450431" y="7357110"/>
            <a:ext cx="3070622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29763" y="6911340"/>
            <a:ext cx="28198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LOSS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521053" y="7357110"/>
            <a:ext cx="2562701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15622" y="6911340"/>
            <a:ext cx="229668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LOSS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226820" y="7962900"/>
            <a:ext cx="222361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22070" y="7505700"/>
            <a:ext cx="19569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450431" y="7962900"/>
            <a:ext cx="30706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529763" y="7505700"/>
            <a:ext cx="2819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2.2726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521053" y="7962900"/>
            <a:ext cx="256270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15622" y="7505700"/>
            <a:ext cx="22966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1.8940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226820" y="8557260"/>
            <a:ext cx="222361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322070" y="8103870"/>
            <a:ext cx="195691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450431" y="8557260"/>
            <a:ext cx="30706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29763" y="8103870"/>
            <a:ext cx="281984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1.8957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521053" y="8557260"/>
            <a:ext cx="256270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15622" y="8103870"/>
            <a:ext cx="22966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1.6962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26820" y="9151620"/>
            <a:ext cx="222361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322070" y="8698230"/>
            <a:ext cx="195691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3450431" y="9151620"/>
            <a:ext cx="30706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529763" y="8698230"/>
            <a:ext cx="281984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1.7929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521053" y="9151620"/>
            <a:ext cx="256270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15622" y="8698230"/>
            <a:ext cx="22966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1.6851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226820" y="9159240"/>
            <a:ext cx="7856934" cy="613410"/>
          </a:xfrm>
          <a:prstGeom prst="rect">
            <a:avLst/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322070" y="9292590"/>
            <a:ext cx="1956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(best)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3529763" y="9292590"/>
            <a:ext cx="28198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1.7873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615622" y="9292590"/>
            <a:ext cx="22966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1.6756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662875" y="5943600"/>
            <a:ext cx="7710726" cy="4141470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975295" y="6256020"/>
            <a:ext cx="72984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đặc biệt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9975295" y="6777990"/>
            <a:ext cx="72984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GPU: NVIDIA L4 24GB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9975295" y="7216140"/>
            <a:ext cx="729846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Optimizer: </a:t>
            </a: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Adafactor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(tiết kiệm VRAM)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9975295" y="7677150"/>
            <a:ext cx="72984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Gradient checkpointing: enabled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9975295" y="8115300"/>
            <a:ext cx="729846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predict_with_generate = False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(tránh OOM)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975295" y="8576310"/>
            <a:ext cx="72984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stop tại epoch 5/6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9975295" y="9014460"/>
            <a:ext cx="729846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Xuất </a:t>
            </a: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model_for_rl </a:t>
            </a: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Stage 3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914400" y="1008507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 rot="2700000">
            <a:off x="914400" y="1035748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238250" y="1030224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6472417" y="10302240"/>
            <a:ext cx="9773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429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2 SFT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834390"/>
            <a:ext cx="16952976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kern="0" spc="-54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SFT trên test set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90650"/>
            <a:ext cx="685800" cy="3810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43050"/>
            <a:ext cx="3543538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1600200"/>
            <a:ext cx="338314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 · checkpoint-735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29388" y="1543050"/>
            <a:ext cx="2130981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62738" y="1600200"/>
            <a:ext cx="194048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105 mẫu test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31819" y="1543050"/>
            <a:ext cx="2072045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65169" y="1600200"/>
            <a:ext cx="188154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search · 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110740"/>
            <a:ext cx="16459200" cy="3118485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50620" y="2251710"/>
            <a:ext cx="1646636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vs. SFT + Number-Aware Rerank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50620" y="3219450"/>
            <a:ext cx="2331125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2070" y="2773680"/>
            <a:ext cx="20644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81745" y="3219450"/>
            <a:ext cx="1808440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76995" y="2773680"/>
            <a:ext cx="154174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ROUGE-1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90185" y="3219450"/>
            <a:ext cx="1808440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85435" y="2773680"/>
            <a:ext cx="154174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ROUGE-2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98625" y="3219450"/>
            <a:ext cx="1808440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93875" y="2773680"/>
            <a:ext cx="154174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ROUGE-L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07066" y="3219450"/>
            <a:ext cx="2206704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02316" y="2773680"/>
            <a:ext cx="194000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BERTSCORE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113770" y="3219450"/>
            <a:ext cx="2405777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209020" y="2773680"/>
            <a:ext cx="213907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RECALL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519547" y="3219450"/>
            <a:ext cx="1609487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614797" y="2773680"/>
            <a:ext cx="134278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129034" y="3219450"/>
            <a:ext cx="2008346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224284" y="2773680"/>
            <a:ext cx="174164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COMP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50620" y="3846195"/>
            <a:ext cx="2331125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22070" y="3368040"/>
            <a:ext cx="2064425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</a:t>
            </a:r>
            <a:r>
              <a:rPr lang="en-US" sz="172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3481745" y="3846195"/>
            <a:ext cx="180844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76995" y="3368040"/>
            <a:ext cx="1541740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81.07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5290185" y="3846195"/>
            <a:ext cx="180844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85435" y="3368040"/>
            <a:ext cx="1541740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69.70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7098625" y="3846195"/>
            <a:ext cx="180844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93875" y="3368040"/>
            <a:ext cx="1541740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68.69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8907066" y="3846195"/>
            <a:ext cx="220670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002316" y="3368040"/>
            <a:ext cx="1940004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92.47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1113770" y="3846195"/>
            <a:ext cx="240577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209020" y="3368040"/>
            <a:ext cx="2139077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71.98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3519547" y="3846195"/>
            <a:ext cx="160948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614797" y="3368040"/>
            <a:ext cx="1342787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6.59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5129034" y="3846195"/>
            <a:ext cx="200834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5224284" y="3368040"/>
            <a:ext cx="1741646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32.38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150620" y="3853815"/>
            <a:ext cx="15986760" cy="630555"/>
          </a:xfrm>
          <a:prstGeom prst="rect">
            <a:avLst/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50620" y="4476750"/>
            <a:ext cx="2331125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322070" y="3987165"/>
            <a:ext cx="2064425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+ Rerank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3481745" y="4476750"/>
            <a:ext cx="180844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76995" y="3987165"/>
            <a:ext cx="1541740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83.16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5290185" y="4476750"/>
            <a:ext cx="180844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85435" y="3987165"/>
            <a:ext cx="1541740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71.68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7098625" y="4476750"/>
            <a:ext cx="180844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193875" y="3987165"/>
            <a:ext cx="1541740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68.91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8907066" y="4476750"/>
            <a:ext cx="220670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002316" y="3987165"/>
            <a:ext cx="1940004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92.51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1113770" y="4476750"/>
            <a:ext cx="240577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209020" y="3987165"/>
            <a:ext cx="213907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78.47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3519547" y="4476750"/>
            <a:ext cx="160948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3614797" y="3987165"/>
            <a:ext cx="134278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5.19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5129034" y="4476750"/>
            <a:ext cx="200834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5224284" y="3987165"/>
            <a:ext cx="1741646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47.62</a:t>
            </a:r>
            <a:endParaRPr lang="en-US" sz="1875" dirty="0"/>
          </a:p>
        </p:txBody>
      </p:sp>
      <p:sp>
        <p:nvSpPr>
          <p:cNvPr id="62" name="Text 60"/>
          <p:cNvSpPr/>
          <p:nvPr/>
        </p:nvSpPr>
        <p:spPr>
          <a:xfrm>
            <a:off x="1322070" y="4617720"/>
            <a:ext cx="2064425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</a:t>
            </a:r>
            <a:r>
              <a:rPr lang="en-US" sz="172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875" dirty="0"/>
          </a:p>
        </p:txBody>
      </p:sp>
      <p:sp>
        <p:nvSpPr>
          <p:cNvPr id="63" name="Text 61"/>
          <p:cNvSpPr/>
          <p:nvPr/>
        </p:nvSpPr>
        <p:spPr>
          <a:xfrm>
            <a:off x="3576995" y="4617720"/>
            <a:ext cx="1541740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+2.09</a:t>
            </a:r>
            <a:endParaRPr lang="en-US" sz="1875" dirty="0"/>
          </a:p>
        </p:txBody>
      </p:sp>
      <p:sp>
        <p:nvSpPr>
          <p:cNvPr id="64" name="Text 62"/>
          <p:cNvSpPr/>
          <p:nvPr/>
        </p:nvSpPr>
        <p:spPr>
          <a:xfrm>
            <a:off x="5385435" y="4617720"/>
            <a:ext cx="1541740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+1.98</a:t>
            </a:r>
            <a:endParaRPr lang="en-US" sz="1875" dirty="0"/>
          </a:p>
        </p:txBody>
      </p:sp>
      <p:sp>
        <p:nvSpPr>
          <p:cNvPr id="65" name="Text 63"/>
          <p:cNvSpPr/>
          <p:nvPr/>
        </p:nvSpPr>
        <p:spPr>
          <a:xfrm>
            <a:off x="7193875" y="4617720"/>
            <a:ext cx="1541740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+0.22</a:t>
            </a:r>
            <a:endParaRPr lang="en-US" sz="1875" dirty="0"/>
          </a:p>
        </p:txBody>
      </p:sp>
      <p:sp>
        <p:nvSpPr>
          <p:cNvPr id="66" name="Text 64"/>
          <p:cNvSpPr/>
          <p:nvPr/>
        </p:nvSpPr>
        <p:spPr>
          <a:xfrm>
            <a:off x="9002316" y="4617720"/>
            <a:ext cx="1940004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+0.04</a:t>
            </a:r>
            <a:endParaRPr lang="en-US" sz="1875" dirty="0"/>
          </a:p>
        </p:txBody>
      </p:sp>
      <p:sp>
        <p:nvSpPr>
          <p:cNvPr id="67" name="Text 65"/>
          <p:cNvSpPr/>
          <p:nvPr/>
        </p:nvSpPr>
        <p:spPr>
          <a:xfrm>
            <a:off x="11209020" y="4617720"/>
            <a:ext cx="2139077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+6.49</a:t>
            </a:r>
            <a:endParaRPr lang="en-US" sz="1875" dirty="0"/>
          </a:p>
        </p:txBody>
      </p:sp>
      <p:sp>
        <p:nvSpPr>
          <p:cNvPr id="68" name="Text 66"/>
          <p:cNvSpPr/>
          <p:nvPr/>
        </p:nvSpPr>
        <p:spPr>
          <a:xfrm>
            <a:off x="13614797" y="4617720"/>
            <a:ext cx="1342787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−1.40</a:t>
            </a:r>
            <a:endParaRPr lang="en-US" sz="1875" dirty="0"/>
          </a:p>
        </p:txBody>
      </p:sp>
      <p:sp>
        <p:nvSpPr>
          <p:cNvPr id="69" name="Text 67"/>
          <p:cNvSpPr/>
          <p:nvPr/>
        </p:nvSpPr>
        <p:spPr>
          <a:xfrm>
            <a:off x="15224284" y="4617720"/>
            <a:ext cx="1741646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+15.24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914400" y="5362575"/>
            <a:ext cx="5397461" cy="2487930"/>
          </a:xfrm>
          <a:prstGeom prst="roundRect">
            <a:avLst>
              <a:gd name="adj" fmla="val 1531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14400" y="7842885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14400" y="5362575"/>
            <a:ext cx="5397461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14400" y="5362575"/>
            <a:ext cx="9525" cy="24879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304241" y="5362575"/>
            <a:ext cx="9525" cy="24879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31570" y="5553075"/>
            <a:ext cx="1173123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264920" y="5610225"/>
            <a:ext cx="98262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+6.49 đ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1131570" y="6063615"/>
            <a:ext cx="511201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Recall</a:t>
            </a:r>
            <a:endParaRPr lang="en-US" sz="2400" dirty="0"/>
          </a:p>
        </p:txBody>
      </p:sp>
      <p:sp>
        <p:nvSpPr>
          <p:cNvPr id="78" name="Text 76"/>
          <p:cNvSpPr/>
          <p:nvPr/>
        </p:nvSpPr>
        <p:spPr>
          <a:xfrm>
            <a:off x="1131570" y="6585585"/>
            <a:ext cx="51120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71.98 </a:t>
            </a:r>
            <a:r>
              <a:rPr lang="en-US" sz="195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33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78.47</a:t>
            </a:r>
            <a:endParaRPr lang="en-US" sz="3300" dirty="0"/>
          </a:p>
        </p:txBody>
      </p:sp>
      <p:sp>
        <p:nvSpPr>
          <p:cNvPr id="79" name="Text 77"/>
          <p:cNvSpPr/>
          <p:nvPr/>
        </p:nvSpPr>
        <p:spPr>
          <a:xfrm>
            <a:off x="1131570" y="7042785"/>
            <a:ext cx="5112014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số liệu giữ lại tăng mạnh — pool candidate đủ tốt.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6445211" y="5362575"/>
            <a:ext cx="5397461" cy="2487930"/>
          </a:xfrm>
          <a:prstGeom prst="roundRect">
            <a:avLst>
              <a:gd name="adj" fmla="val 1531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445211" y="7842885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445211" y="5362575"/>
            <a:ext cx="5397461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445211" y="5362575"/>
            <a:ext cx="9525" cy="24879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835051" y="5362575"/>
            <a:ext cx="9525" cy="24879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662381" y="5553075"/>
            <a:ext cx="1112996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795731" y="5610225"/>
            <a:ext cx="9224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−1.40 đ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6662381" y="6063615"/>
            <a:ext cx="511201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6662381" y="6585585"/>
            <a:ext cx="51120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6.59 </a:t>
            </a:r>
            <a:r>
              <a:rPr lang="en-US" sz="195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33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5.19</a:t>
            </a:r>
            <a:endParaRPr lang="en-US" sz="3300" dirty="0"/>
          </a:p>
        </p:txBody>
      </p:sp>
      <p:sp>
        <p:nvSpPr>
          <p:cNvPr id="89" name="Text 87"/>
          <p:cNvSpPr/>
          <p:nvPr/>
        </p:nvSpPr>
        <p:spPr>
          <a:xfrm>
            <a:off x="6662381" y="7042785"/>
            <a:ext cx="511201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train, vẫn giảm 21% số liệu bịa.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11976021" y="5362575"/>
            <a:ext cx="5397461" cy="2487930"/>
          </a:xfrm>
          <a:prstGeom prst="roundRect">
            <a:avLst>
              <a:gd name="adj" fmla="val 1531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1976021" y="7842885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1976021" y="5362575"/>
            <a:ext cx="5397461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1976021" y="5362575"/>
            <a:ext cx="9525" cy="24879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7365862" y="5362575"/>
            <a:ext cx="9525" cy="24879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2193191" y="5553075"/>
            <a:ext cx="1252061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2326541" y="5610225"/>
            <a:ext cx="10615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+15.24 đ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12193191" y="6063615"/>
            <a:ext cx="511201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Compliance</a:t>
            </a:r>
            <a:endParaRPr lang="en-US" sz="2400" dirty="0"/>
          </a:p>
        </p:txBody>
      </p:sp>
      <p:sp>
        <p:nvSpPr>
          <p:cNvPr id="98" name="Text 96"/>
          <p:cNvSpPr/>
          <p:nvPr/>
        </p:nvSpPr>
        <p:spPr>
          <a:xfrm>
            <a:off x="12193191" y="6585585"/>
            <a:ext cx="51120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32.38 </a:t>
            </a:r>
            <a:r>
              <a:rPr lang="en-US" sz="195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33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47.62</a:t>
            </a:r>
            <a:endParaRPr lang="en-US" sz="3300" dirty="0"/>
          </a:p>
        </p:txBody>
      </p:sp>
      <p:sp>
        <p:nvSpPr>
          <p:cNvPr id="99" name="Text 97"/>
          <p:cNvSpPr/>
          <p:nvPr/>
        </p:nvSpPr>
        <p:spPr>
          <a:xfrm>
            <a:off x="12193191" y="7042785"/>
            <a:ext cx="511201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ratio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0.203 → 0.212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gần target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0.225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914400" y="7983855"/>
            <a:ext cx="16459200" cy="91440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14400" y="7983855"/>
            <a:ext cx="38100" cy="91440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181100" y="8117205"/>
            <a:ext cx="164576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Number-Aware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không cần train — chỉ chọn candidate tốt nhất từ beam — nhưng cải thiện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metrics. Đây là baseline PPO phải vượt qua ở Stage 3.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914400" y="94830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 rot="2700000">
            <a:off x="914400" y="97555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238250" y="97002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16537306" y="9700260"/>
            <a:ext cx="9124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575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CẦU NỐI STAGE 2 → STAGE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7240"/>
            <a:ext cx="16952976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52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 là </a:t>
            </a:r>
            <a:r>
              <a:rPr lang="en-US" sz="3450" b="1" i="1" kern="0" spc="-52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r>
              <a:rPr lang="en-US" sz="3450" b="1" kern="0" spc="-52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PPO là </a:t>
            </a:r>
            <a:r>
              <a:rPr lang="en-US" sz="3450" b="1" i="1" kern="0" spc="-52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313498"/>
            <a:ext cx="685800" cy="3810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484948"/>
            <a:ext cx="5397461" cy="3402330"/>
          </a:xfrm>
          <a:prstGeom prst="roundRect">
            <a:avLst>
              <a:gd name="adj" fmla="val 11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4879658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484948"/>
            <a:ext cx="5397461" cy="38100"/>
          </a:xfrm>
          <a:prstGeom prst="rect">
            <a:avLst/>
          </a:prstGeom>
          <a:solidFill>
            <a:srgbClr val="6B73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484948"/>
            <a:ext cx="9525" cy="34023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4241" y="1484948"/>
            <a:ext cx="9525" cy="34023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2520" y="1675448"/>
            <a:ext cx="1774388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45870" y="1732598"/>
            <a:ext cx="15838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SFT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2520" y="2185988"/>
            <a:ext cx="515125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language ability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12520" y="2707958"/>
            <a:ext cx="5151257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Seq2SeqTrainer tối ưu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L_CE = −log P(y_gold|x)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teacher forcing.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2520" y="3454718"/>
            <a:ext cx="5151257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quả: </a:t>
            </a: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token-level objective không đo length, hallucination, repetition → output còn bịa số, lặp từ, lệch độ dài.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45211" y="1484948"/>
            <a:ext cx="5397461" cy="3402330"/>
          </a:xfrm>
          <a:prstGeom prst="roundRect">
            <a:avLst>
              <a:gd name="adj" fmla="val 112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45211" y="4879658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5211" y="1484948"/>
            <a:ext cx="5397461" cy="3810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45211" y="1484948"/>
            <a:ext cx="9525" cy="34023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835051" y="1484948"/>
            <a:ext cx="9525" cy="34023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43331" y="1675448"/>
            <a:ext cx="3296126" cy="434340"/>
          </a:xfrm>
          <a:prstGeom prst="roundRect">
            <a:avLst>
              <a:gd name="adj" fmla="val 50000"/>
            </a:avLst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76681" y="1732598"/>
            <a:ext cx="31283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 · inference-time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43331" y="2185988"/>
            <a:ext cx="515125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selector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643331" y="2707958"/>
            <a:ext cx="5151257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N candidates → score bằng heuristic reward →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update weights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không phải RL.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43331" y="3767138"/>
            <a:ext cx="5151257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Best-of-N sampling · reward-guided decoding · "lightweight RLHF-style inference". Chứng minh heuristic reward có giá trị.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976021" y="1484948"/>
            <a:ext cx="5397461" cy="3402330"/>
          </a:xfrm>
          <a:prstGeom prst="roundRect">
            <a:avLst>
              <a:gd name="adj" fmla="val 112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976021" y="4879658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976021" y="1484948"/>
            <a:ext cx="5397461" cy="3810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976021" y="1484948"/>
            <a:ext cx="9525" cy="34023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365862" y="1484948"/>
            <a:ext cx="9525" cy="340233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2174141" y="1675448"/>
            <a:ext cx="1821418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307491" y="1732598"/>
            <a:ext cx="163091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PPO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74141" y="2185988"/>
            <a:ext cx="515125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learner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174141" y="2707958"/>
            <a:ext cx="5151257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→ policy gradient. Model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xác suất sinh chuỗi reward cao tăng, chuỗi reward thấp giảm.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174141" y="3751897"/>
            <a:ext cx="51512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Clipped objective + KL với ref model → policy optimization có kiểm soát.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14400" y="5001578"/>
            <a:ext cx="16459200" cy="243078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31570" y="5123498"/>
            <a:ext cx="1650560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— cùng công thức, hai cách dùng khác nhau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131570" y="6091238"/>
            <a:ext cx="1887379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03020" y="5645468"/>
            <a:ext cx="162067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018949" y="6091238"/>
            <a:ext cx="3599259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90399" y="5645468"/>
            <a:ext cx="336433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DÙNG ĐỂ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618208" y="6091238"/>
            <a:ext cx="6477238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89658" y="5645468"/>
            <a:ext cx="632865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CHẾ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095446" y="6091238"/>
            <a:ext cx="4060984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266896" y="5645468"/>
            <a:ext cx="383991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31570" y="6704648"/>
            <a:ext cx="188737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303020" y="6239828"/>
            <a:ext cx="1620679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018949" y="6704648"/>
            <a:ext cx="359925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190399" y="6239828"/>
            <a:ext cx="3364337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candidate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618208" y="6704648"/>
            <a:ext cx="647723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89658" y="6239828"/>
            <a:ext cx="632865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argmax · decoding-time · </a:t>
            </a:r>
            <a:r>
              <a:rPr lang="en-US" sz="1800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update weights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3095446" y="6704648"/>
            <a:ext cx="406098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266896" y="6239828"/>
            <a:ext cx="383991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thiện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run-time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31570" y="6712268"/>
            <a:ext cx="16024860" cy="598170"/>
          </a:xfrm>
          <a:prstGeom prst="rect">
            <a:avLst/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303020" y="6845618"/>
            <a:ext cx="1620679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3190399" y="6845618"/>
            <a:ext cx="3364337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policy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789658" y="6845618"/>
            <a:ext cx="632865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gradient + clip · </a:t>
            </a:r>
            <a:r>
              <a:rPr lang="en-US" sz="1800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weights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3266896" y="6845618"/>
            <a:ext cx="383991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Internalize vào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14400" y="7546657"/>
            <a:ext cx="8172450" cy="1954530"/>
          </a:xfrm>
          <a:prstGeom prst="roundRect">
            <a:avLst>
              <a:gd name="adj" fmla="val 1949"/>
            </a:avLst>
          </a:prstGeom>
          <a:solidFill>
            <a:srgbClr val="14181F"/>
          </a:solidFill>
          <a:ln w="762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12520" y="7668578"/>
            <a:ext cx="80094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CỐT LÕI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112520" y="8045768"/>
            <a:ext cx="8009497" cy="72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là bước </a:t>
            </a:r>
            <a:r>
              <a:rPr lang="en-US" sz="1875" b="1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"internalizing the reranking criteria into model parameters" </a:t>
            </a:r>
            <a:r>
              <a:rPr lang="en-US" sz="1875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biến heuristic external thành learned behavior.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9201150" y="7546657"/>
            <a:ext cx="8172450" cy="1954530"/>
          </a:xfrm>
          <a:prstGeom prst="roundRect">
            <a:avLst>
              <a:gd name="adj" fmla="val 1949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399270" y="7668578"/>
            <a:ext cx="800949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khi tune trọng số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9399270" y="8057198"/>
            <a:ext cx="800949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cao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copy số nhiều, giảm fluency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399270" y="8392478"/>
            <a:ext cx="800949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cao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conservative, ít paraphrase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9399270" y="8727757"/>
            <a:ext cx="800949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cao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tối ưu length, bỏ nội dung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9399270" y="9063038"/>
            <a:ext cx="800949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ro: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hacking · mode collapse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914400" y="95211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 rot="2700000">
            <a:off x="914400" y="97936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238250" y="97383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6479084" y="9738360"/>
            <a:ext cx="9707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3 · PPO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24890"/>
            <a:ext cx="16952976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63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chuyển từ SFT sang PPO?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985010"/>
            <a:ext cx="8096250" cy="4527233"/>
          </a:xfrm>
          <a:prstGeom prst="roundRect">
            <a:avLst>
              <a:gd name="adj" fmla="val 842"/>
            </a:avLst>
          </a:prstGeom>
          <a:solidFill>
            <a:srgbClr val="14181F"/>
          </a:solidFill>
          <a:ln w="762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6820" y="2297430"/>
            <a:ext cx="76955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HẠN CHẾ CỦA CROSS-ENTROPY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26820" y="2788920"/>
            <a:ext cx="7695553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Không phân biệt lỗi nghiêm trọng vs thường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26820" y="3192780"/>
            <a:ext cx="7695553" cy="736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F7F3E9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sót </a:t>
            </a:r>
            <a:r>
              <a:rPr lang="en-US" sz="1875" b="1" dirty="0">
                <a:solidFill>
                  <a:srgbClr val="F7F3E9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liều thuốc "5mg" </a:t>
            </a:r>
            <a:r>
              <a:rPr lang="en-US" sz="1875" dirty="0">
                <a:solidFill>
                  <a:srgbClr val="F7F3E9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bỏ sót từ nối "và" có cùng mức phạt — hậu quả thực tế hoàn toàn khác.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26820" y="4062412"/>
            <a:ext cx="7695553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Tối ưu token độc lập, không đánh giá toàn câu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26820" y="4466272"/>
            <a:ext cx="769555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F7F3E9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đo length ratio, hallucination số liệu, diversity — đúng những gì user thực sự quan tâm.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77350" y="1985010"/>
            <a:ext cx="8096250" cy="4527233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89770" y="2297430"/>
            <a:ext cx="769555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giải · PPO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89770" y="2819400"/>
            <a:ext cx="7695553" cy="1117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Nhúng </a:t>
            </a: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trực tiếp </a:t>
            </a:r>
            <a:r>
              <a:rPr lang="en-US" sz="187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tiêu chí domain (số liệu, độ dài, độ đa dạng, hallucination) vào reward function. Mô hình tối ưu đúng cái user muốn — không qua proxy.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89770" y="4108133"/>
            <a:ext cx="7471410" cy="2091690"/>
          </a:xfrm>
          <a:prstGeom prst="rect">
            <a:avLst/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9770" y="4108133"/>
            <a:ext cx="53340" cy="209169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52660" y="4279583"/>
            <a:ext cx="720893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STAGE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52660" y="4656772"/>
            <a:ext cx="720893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780 mẫu gốc </a:t>
            </a:r>
            <a:r>
              <a:rPr lang="en-US" sz="19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không dùng 1.560 augmented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52660" y="5068253"/>
            <a:ext cx="7208939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= paraphrase của 780 → reward tính trên cùng nội dung nhiều lần sẽ tạo bias. Mỗi bài báo chỉ xuất hiện 1 lần để reward signal trung thực.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721793"/>
            <a:ext cx="5718572" cy="3044190"/>
          </a:xfrm>
          <a:prstGeom prst="roundRect">
            <a:avLst>
              <a:gd name="adj" fmla="val 12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9758363"/>
            <a:ext cx="5718572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6721793"/>
            <a:ext cx="5718572" cy="3810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6721793"/>
            <a:ext cx="9525" cy="304419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25352" y="6721793"/>
            <a:ext cx="9525" cy="304419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26820" y="7064693"/>
            <a:ext cx="2129195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60170" y="7121843"/>
            <a:ext cx="19386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· trainable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26820" y="7594282"/>
            <a:ext cx="524654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26820" y="8116253"/>
            <a:ext cx="524654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 (Stage 2 weights)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Value Head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MLP nhỏ dự đoán expected cumulative reward, phục vụ tính advantage.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26820" y="9160193"/>
            <a:ext cx="524654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AutoModelForSeq2SeqLMWithValueHead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6804422" y="6721793"/>
            <a:ext cx="5718691" cy="3044190"/>
          </a:xfrm>
          <a:prstGeom prst="roundRect">
            <a:avLst>
              <a:gd name="adj" fmla="val 12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04422" y="9758363"/>
            <a:ext cx="571869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04422" y="6721793"/>
            <a:ext cx="5718691" cy="38100"/>
          </a:xfrm>
          <a:prstGeom prst="rect">
            <a:avLst/>
          </a:prstGeom>
          <a:solidFill>
            <a:srgbClr val="6B73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04422" y="6721793"/>
            <a:ext cx="9525" cy="304419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515493" y="6721793"/>
            <a:ext cx="9525" cy="304419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16842" y="7064693"/>
            <a:ext cx="2311837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50192" y="7121843"/>
            <a:ext cx="212133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· frozen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16842" y="7594282"/>
            <a:ext cx="524666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model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116842" y="8116253"/>
            <a:ext cx="5246667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sao Stage 2 —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requires_grad = False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luôn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eval()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Dùng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nhất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tính KL với policy hiện tại.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694564" y="6721793"/>
            <a:ext cx="4679037" cy="3044190"/>
          </a:xfrm>
          <a:prstGeom prst="roundRect">
            <a:avLst>
              <a:gd name="adj" fmla="val 12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2694564" y="9758363"/>
            <a:ext cx="4679037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2694564" y="6721793"/>
            <a:ext cx="4679037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2694564" y="6721793"/>
            <a:ext cx="9525" cy="304419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7365981" y="6721793"/>
            <a:ext cx="9525" cy="304419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3006983" y="7064693"/>
            <a:ext cx="825937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140333" y="7121843"/>
            <a:ext cx="63543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006983" y="7594282"/>
            <a:ext cx="417582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3006983" y="8116253"/>
            <a:ext cx="4175823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+ grad scaling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ổn định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policy + value head. BF16 có exponent range = FP32 → an toàn.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9765983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rot="2700000">
            <a:off x="914400" y="10038397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238250" y="9983152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476345" y="9983152"/>
            <a:ext cx="97345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3 · PPO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48690"/>
            <a:ext cx="16952976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6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function · 4 thành phần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622108"/>
            <a:ext cx="685800" cy="3810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869758"/>
            <a:ext cx="16459200" cy="179832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1100" y="2060258"/>
            <a:ext cx="16419576" cy="1455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raw_reward </a:t>
            </a:r>
            <a:r>
              <a:rPr lang="en-US" sz="1800" dirty="0">
                <a:solidFill>
                  <a:srgbClr val="F7F3E9"/>
                </a:solidFill>
                <a:highlight>
                  <a:srgbClr val="14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800" dirty="0">
                <a:solidFill>
                  <a:srgbClr val="7FC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+0.45</a:t>
            </a:r>
            <a:r>
              <a:rPr lang="en-US" sz="1800" dirty="0">
                <a:solidFill>
                  <a:srgbClr val="F7F3E9"/>
                </a:solidFill>
                <a:highlight>
                  <a:srgbClr val="14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·NumberRecall(src,pred,gold) </a:t>
            </a:r>
            <a:r>
              <a:rPr lang="en-US" sz="1800" dirty="0">
                <a:solidFill>
                  <a:srgbClr val="7FC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+0.20</a:t>
            </a:r>
            <a:r>
              <a:rPr lang="en-US" sz="1800" dirty="0">
                <a:solidFill>
                  <a:srgbClr val="F7F3E9"/>
                </a:solidFill>
                <a:highlight>
                  <a:srgbClr val="14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·LengthScore(src,pred) </a:t>
            </a:r>
            <a:r>
              <a:rPr lang="en-US" sz="1800" dirty="0">
                <a:solidFill>
                  <a:srgbClr val="7FC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+0.15</a:t>
            </a:r>
            <a:r>
              <a:rPr lang="en-US" sz="1800" dirty="0">
                <a:solidFill>
                  <a:srgbClr val="F7F3E9"/>
                </a:solidFill>
                <a:highlight>
                  <a:srgbClr val="14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·DiversityScore(pred) </a:t>
            </a:r>
            <a:r>
              <a:rPr lang="en-US" sz="1800" dirty="0">
                <a:solidFill>
                  <a:srgbClr val="FF9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−0.20</a:t>
            </a:r>
            <a:r>
              <a:rPr lang="en-US" sz="1800" dirty="0">
                <a:solidFill>
                  <a:srgbClr val="F7F3E9"/>
                </a:solidFill>
                <a:highlight>
                  <a:srgbClr val="14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·NumberHallucination(src,pred,gold) </a:t>
            </a:r>
            <a:r>
              <a:rPr lang="en-US" sz="1800" dirty="0">
                <a:solidFill>
                  <a:srgbClr val="FF9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hallucination_rate &gt; 0.5: raw_reward −= 1.0 </a:t>
            </a:r>
            <a:r>
              <a:rPr lang="en-US" sz="1800" dirty="0">
                <a:solidFill>
                  <a:srgbClr val="F7F3E9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hard penalty </a:t>
            </a:r>
            <a:r>
              <a:rPr lang="en-US" sz="1800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 </a:t>
            </a:r>
            <a:r>
              <a:rPr lang="en-US" sz="1800" dirty="0">
                <a:solidFill>
                  <a:srgbClr val="F7F3E9"/>
                </a:solidFill>
                <a:highlight>
                  <a:srgbClr val="14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clip(raw_reward, −1.0, +1.0) → batch-normalize (mean=0, std=1) → PPO step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877628"/>
            <a:ext cx="4000500" cy="3284220"/>
          </a:xfrm>
          <a:prstGeom prst="roundRect">
            <a:avLst>
              <a:gd name="adj" fmla="val 116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7154228"/>
            <a:ext cx="40005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877628"/>
            <a:ext cx="4000500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877628"/>
            <a:ext cx="9525" cy="328422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07280" y="3877628"/>
            <a:ext cx="9525" cy="328422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26820" y="4220528"/>
            <a:ext cx="2147649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60170" y="4277678"/>
            <a:ext cx="19571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+0.45 · cao nhất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6820" y="4750118"/>
            <a:ext cx="347693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Recall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26820" y="5272088"/>
            <a:ext cx="347693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|gold ∩ pred| / |gold|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26820" y="5622607"/>
            <a:ext cx="3476930" cy="1264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= </a:t>
            </a:r>
            <a:r>
              <a:rPr lang="en-US" sz="1725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(không phải src) — tránh ép copy mọi số trong source. Gold rỗng → trả 1.0 (không có gì để nhớ → không phạt).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5067300" y="3877628"/>
            <a:ext cx="4000500" cy="3284220"/>
          </a:xfrm>
          <a:prstGeom prst="roundRect">
            <a:avLst>
              <a:gd name="adj" fmla="val 11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7300" y="7154228"/>
            <a:ext cx="40005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67300" y="3877628"/>
            <a:ext cx="4000500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67300" y="3877628"/>
            <a:ext cx="9525" cy="328422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60180" y="3877628"/>
            <a:ext cx="9525" cy="328422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79720" y="4220528"/>
            <a:ext cx="952500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13070" y="4277678"/>
            <a:ext cx="762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79720" y="4750118"/>
            <a:ext cx="347693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Score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79720" y="5272088"/>
            <a:ext cx="347693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ratio = 0.225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379720" y="5622607"/>
            <a:ext cx="3476930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1.0 nếu words(pred)/words(src) ∈ </a:t>
            </a:r>
            <a:r>
              <a:rPr lang="en-US" sz="1725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[0.18, 0.27]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giảm tuyến tính khi lệch.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9220200" y="3877628"/>
            <a:ext cx="4000500" cy="3284220"/>
          </a:xfrm>
          <a:prstGeom prst="roundRect">
            <a:avLst>
              <a:gd name="adj" fmla="val 11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220200" y="7154228"/>
            <a:ext cx="40005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20200" y="3877628"/>
            <a:ext cx="4000500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20200" y="3877628"/>
            <a:ext cx="9525" cy="328422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213080" y="3877628"/>
            <a:ext cx="9525" cy="328422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32620" y="4220528"/>
            <a:ext cx="892493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65970" y="4277678"/>
            <a:ext cx="70199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32620" y="4750118"/>
            <a:ext cx="347693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Score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532620" y="5272088"/>
            <a:ext cx="347693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|unique_words| / |total_words|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532620" y="5915978"/>
            <a:ext cx="3476930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</a:t>
            </a:r>
            <a:r>
              <a:rPr lang="en-US" sz="1725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hacking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model lặp cùng cụm từ để đẩy NumberRecall hoặc LengthScore.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13373100" y="3877628"/>
            <a:ext cx="4000500" cy="3284220"/>
          </a:xfrm>
          <a:prstGeom prst="roundRect">
            <a:avLst>
              <a:gd name="adj" fmla="val 1160"/>
            </a:avLst>
          </a:prstGeom>
          <a:solidFill>
            <a:srgbClr val="F4DC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3373100" y="7154228"/>
            <a:ext cx="40005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3373100" y="3877628"/>
            <a:ext cx="4000500" cy="381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3373100" y="3877628"/>
            <a:ext cx="9525" cy="328422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7365980" y="3877628"/>
            <a:ext cx="9525" cy="328422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3685520" y="4220528"/>
            <a:ext cx="956191" cy="434340"/>
          </a:xfrm>
          <a:prstGeom prst="roundRect">
            <a:avLst>
              <a:gd name="adj" fmla="val 50000"/>
            </a:avLst>
          </a:prstGeom>
          <a:solidFill>
            <a:srgbClr val="F4DC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818870" y="4277678"/>
            <a:ext cx="7656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685520" y="4750118"/>
            <a:ext cx="347693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Hallucination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3685520" y="5272088"/>
            <a:ext cx="347693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|pred \ (src ∪ gold)| / |pred|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3685520" y="5915978"/>
            <a:ext cx="3476930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"Allowed" = </a:t>
            </a:r>
            <a:r>
              <a:rPr lang="en-US" sz="1725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src và gold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không phạt oan số mô hình copy đúng từ gold.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914400" y="7333298"/>
            <a:ext cx="16459200" cy="1002983"/>
          </a:xfrm>
          <a:prstGeom prst="rect">
            <a:avLst/>
          </a:prstGeom>
          <a:solidFill>
            <a:srgbClr val="F4DC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14400" y="7333298"/>
            <a:ext cx="53340" cy="1002983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196340" y="7514749"/>
            <a:ext cx="21717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PENALTY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463290" y="7485698"/>
            <a:ext cx="14092162" cy="736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</a:t>
            </a: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hallucination_rate &gt; 0.5 </a:t>
            </a: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(hơn nửa số liệu trong pred là bịa) — trừ thẳng </a:t>
            </a: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 </a:t>
            </a: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kể các thành phần khác. Bảo vệ tuyệt đối cho domain y tế.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914400" y="93687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rot="2700000">
            <a:off x="914400" y="96412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238250" y="95859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6465748" y="9585960"/>
            <a:ext cx="98405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3 · PPO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24890"/>
            <a:ext cx="16952976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6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objective &amp; advantage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717358"/>
            <a:ext cx="685800" cy="3810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84058"/>
            <a:ext cx="16459200" cy="802958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1100" y="2193608"/>
            <a:ext cx="16419576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L_PPO </a:t>
            </a:r>
            <a:r>
              <a:rPr lang="en-US" sz="1950" dirty="0">
                <a:solidFill>
                  <a:srgbClr val="F7F3E9"/>
                </a:solidFill>
                <a:highlight>
                  <a:srgbClr val="14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E[ min( r_t · A_t, clip(r_t, 1−ε, 1+ε) · A_t ) ] − β · KL(π_actor ∥ π_ref)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015615"/>
            <a:ext cx="8115300" cy="3585210"/>
          </a:xfrm>
          <a:prstGeom prst="roundRect">
            <a:avLst>
              <a:gd name="adj" fmla="val 1063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26820" y="3328035"/>
            <a:ext cx="771517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thành phần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26820" y="3850005"/>
            <a:ext cx="7715174" cy="426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562" b="1" baseline="-400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</a:t>
            </a: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importance ratio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26820" y="4238744"/>
            <a:ext cx="7715174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π_actor(a|s) / π_actor_old(a|s)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26820" y="4542592"/>
            <a:ext cx="7715174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 số xác suất giữa policy hiện tại và policy lúc sinh response.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6820" y="5007412"/>
            <a:ext cx="7715174" cy="426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562" b="1" baseline="-400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</a:t>
            </a: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advantage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26820" y="5396151"/>
            <a:ext cx="7715174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reward − KL_COEF·KL − V(s)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26820" y="5699998"/>
            <a:ext cx="771517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clip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±0.50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tránh gradient spike.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58300" y="3015615"/>
            <a:ext cx="8115300" cy="3585210"/>
          </a:xfrm>
          <a:prstGeom prst="roundRect">
            <a:avLst>
              <a:gd name="adj" fmla="val 1063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70720" y="3328035"/>
            <a:ext cx="771517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Hằng số quan trọng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570720" y="4446270"/>
            <a:ext cx="198274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42170" y="3983355"/>
            <a:ext cx="1716048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187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(clip range)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553468" y="4446270"/>
            <a:ext cx="112954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648718" y="3983355"/>
            <a:ext cx="862846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2683014" y="4446270"/>
            <a:ext cx="437816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854464" y="3983355"/>
            <a:ext cx="4166611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hạn thay đổi policy mỗi bước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570720" y="5053965"/>
            <a:ext cx="198274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42170" y="4587240"/>
            <a:ext cx="17160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</a:t>
            </a:r>
            <a:r>
              <a:rPr lang="en-US" sz="187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(KL_COEF)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1553468" y="5053965"/>
            <a:ext cx="112954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648718" y="4587240"/>
            <a:ext cx="8628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2683014" y="5053965"/>
            <a:ext cx="437816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854464" y="4587240"/>
            <a:ext cx="41666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Trọng số KL — cao để giữ gần SFT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570720" y="5676900"/>
            <a:ext cx="198274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742170" y="5194935"/>
            <a:ext cx="1716048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kl_penalty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1553468" y="5676900"/>
            <a:ext cx="112954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724918" y="5194935"/>
            <a:ext cx="862846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"abs"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683014" y="5676900"/>
            <a:ext cx="437816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854464" y="5194935"/>
            <a:ext cx="4166611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|log_p_actor − log_p_ref|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9742170" y="5817870"/>
            <a:ext cx="1716048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adap_kl_ctrl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1724918" y="5817870"/>
            <a:ext cx="862846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2854464" y="5817870"/>
            <a:ext cx="4166611" cy="375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cố định, không adaptive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914400" y="6810375"/>
            <a:ext cx="16459200" cy="1765935"/>
          </a:xfrm>
          <a:prstGeom prst="roundRect">
            <a:avLst>
              <a:gd name="adj" fmla="val 2157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14400" y="8568690"/>
            <a:ext cx="16459200" cy="9525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4400" y="6810375"/>
            <a:ext cx="16459200" cy="9525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14400" y="6810375"/>
            <a:ext cx="53340" cy="1765935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7365980" y="6810375"/>
            <a:ext cx="9525" cy="1765935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72540" y="7122795"/>
            <a:ext cx="1626229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SAMPLING DÙNG FULL DISTRIBUTION KHI TRAIN?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72540" y="7519035"/>
            <a:ext cx="16262299" cy="782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top_k=0, top_p=1.0, temperature=1.0 </a:t>
            </a: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không truncate phân phối. Lý do: KL tính trên log_prob của </a:t>
            </a: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phối đầy đủ </a:t>
            </a: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cả actor và ref. Nếu sampling truncate thì log_prob lệch, KL estimate có thể </a:t>
            </a: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âm </a:t>
            </a: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làm hỏng signal.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914400" y="927354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rot="2700000">
            <a:off x="914400" y="954595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38250" y="949071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476345" y="9490710"/>
            <a:ext cx="97345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429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3 · PPO MECHANICS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834390"/>
            <a:ext cx="16952976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52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như một bài toán RL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503998"/>
            <a:ext cx="8162925" cy="4994553"/>
          </a:xfrm>
          <a:prstGeom prst="roundRect">
            <a:avLst>
              <a:gd name="adj" fmla="val 763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1570" y="1644967"/>
            <a:ext cx="796044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RL ↔ Summarization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31570" y="2612708"/>
            <a:ext cx="2764512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03020" y="2166938"/>
            <a:ext cx="250454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CONCEPT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96082" y="2612708"/>
            <a:ext cx="4964073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67532" y="2166938"/>
            <a:ext cx="477009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SUMMARIZATION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31570" y="3239452"/>
            <a:ext cx="276451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03020" y="2761297"/>
            <a:ext cx="2504548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3896082" y="3239452"/>
            <a:ext cx="496407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7532" y="2761297"/>
            <a:ext cx="4770095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+ tokens đã sinh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31570" y="3854767"/>
            <a:ext cx="276451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03020" y="3380422"/>
            <a:ext cx="2504548" cy="37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3896082" y="3854767"/>
            <a:ext cx="496407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67532" y="3380422"/>
            <a:ext cx="4770095" cy="37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tiếp theo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31570" y="4507825"/>
            <a:ext cx="276451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03020" y="3995737"/>
            <a:ext cx="2504548" cy="41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</a:t>
            </a: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</a:t>
            </a:r>
            <a:r>
              <a:rPr lang="en-US" sz="1562" baseline="-400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3896082" y="4507825"/>
            <a:ext cx="496407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67532" y="3995737"/>
            <a:ext cx="4770095" cy="41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 decoder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31570" y="5123140"/>
            <a:ext cx="276451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03020" y="4648795"/>
            <a:ext cx="2504548" cy="37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3896082" y="5123140"/>
            <a:ext cx="496407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67532" y="4648795"/>
            <a:ext cx="4770095" cy="37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summary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31570" y="5738456"/>
            <a:ext cx="276451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03020" y="5264111"/>
            <a:ext cx="2504548" cy="37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3896082" y="5738456"/>
            <a:ext cx="496407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67532" y="5264111"/>
            <a:ext cx="4770095" cy="37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 của summary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303020" y="5879425"/>
            <a:ext cx="2504548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V(s)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4067532" y="5879425"/>
            <a:ext cx="4770095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head ước expected reward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210675" y="1503998"/>
            <a:ext cx="8162925" cy="4994553"/>
          </a:xfrm>
          <a:prstGeom prst="roundRect">
            <a:avLst>
              <a:gd name="adj" fmla="val 763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27845" y="1644967"/>
            <a:ext cx="796044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— output tốt hơn kỳ vọng bao nhiêu?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580245" y="2147887"/>
            <a:ext cx="7655643" cy="455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750" baseline="-400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21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R</a:t>
            </a:r>
            <a:r>
              <a:rPr lang="en-US" sz="1750" baseline="-400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21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V(s</a:t>
            </a:r>
            <a:r>
              <a:rPr lang="en-US" sz="1750" baseline="-400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21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427845" y="3655338"/>
            <a:ext cx="2339102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599295" y="2889528"/>
            <a:ext cx="2072402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THẬT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766947" y="3655338"/>
            <a:ext cx="1958459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862197" y="2889528"/>
            <a:ext cx="1691759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EST.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3725406" y="3655338"/>
            <a:ext cx="1824276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3820656" y="2889528"/>
            <a:ext cx="1557576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549682" y="3655338"/>
            <a:ext cx="1606748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5721132" y="2889528"/>
            <a:ext cx="1340048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HÀNH VI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427845" y="4607838"/>
            <a:ext cx="233910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599295" y="3803928"/>
            <a:ext cx="2072402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 </a:t>
            </a:r>
            <a:r>
              <a:rPr lang="en-US" sz="172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1766947" y="4607838"/>
            <a:ext cx="195845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1862197" y="3803928"/>
            <a:ext cx="1691759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3725406" y="4607838"/>
            <a:ext cx="182427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820656" y="3803928"/>
            <a:ext cx="1557576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15549682" y="4607838"/>
            <a:ext cx="160674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5721132" y="3803928"/>
            <a:ext cx="1340048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probability</a:t>
            </a:r>
            <a:endParaRPr lang="en-US" sz="1875" dirty="0"/>
          </a:p>
        </p:txBody>
      </p:sp>
      <p:sp>
        <p:nvSpPr>
          <p:cNvPr id="51" name="Text 49"/>
          <p:cNvSpPr/>
          <p:nvPr/>
        </p:nvSpPr>
        <p:spPr>
          <a:xfrm>
            <a:off x="9599295" y="4748808"/>
            <a:ext cx="2072402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</a:t>
            </a:r>
            <a:r>
              <a:rPr lang="en-US" sz="172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11862197" y="4748808"/>
            <a:ext cx="1691759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13820656" y="4748808"/>
            <a:ext cx="1557576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B0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15721132" y="4748808"/>
            <a:ext cx="1340048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probability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914400" y="6631900"/>
            <a:ext cx="16459200" cy="185547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131570" y="6772870"/>
            <a:ext cx="1650560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bước update — không phải "reward cao = cộng weight"</a:t>
            </a:r>
            <a:endParaRPr lang="en-US" sz="2400" dirty="0"/>
          </a:p>
        </p:txBody>
      </p:sp>
      <p:sp>
        <p:nvSpPr>
          <p:cNvPr id="57" name="Shape 55"/>
          <p:cNvSpPr/>
          <p:nvPr/>
        </p:nvSpPr>
        <p:spPr>
          <a:xfrm>
            <a:off x="1131570" y="7180540"/>
            <a:ext cx="22860" cy="116586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268730" y="7275790"/>
            <a:ext cx="29635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268730" y="7614881"/>
            <a:ext cx="2963582" cy="390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summary </a:t>
            </a:r>
            <a:r>
              <a:rPr lang="en-US" sz="165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~ π</a:t>
            </a:r>
            <a:r>
              <a:rPr lang="en-US" sz="1375" baseline="-400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355544" y="7180540"/>
            <a:ext cx="22860" cy="116586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492705" y="7275790"/>
            <a:ext cx="29635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4492705" y="7614881"/>
            <a:ext cx="296358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reward scalar R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7579519" y="7180540"/>
            <a:ext cx="22860" cy="116586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716679" y="7275790"/>
            <a:ext cx="296370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7716679" y="7614881"/>
            <a:ext cx="2963705" cy="390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advantage </a:t>
            </a:r>
            <a:r>
              <a:rPr lang="en-US" sz="165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75" baseline="-400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0803613" y="7180540"/>
            <a:ext cx="22860" cy="116586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940773" y="7275790"/>
            <a:ext cx="29635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0940773" y="7614881"/>
            <a:ext cx="2963582" cy="390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ratio </a:t>
            </a:r>
            <a:r>
              <a:rPr lang="en-US" sz="165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75" baseline="-400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65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π</a:t>
            </a:r>
            <a:r>
              <a:rPr lang="en-US" sz="1375" baseline="-400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r>
              <a:rPr lang="en-US" sz="165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/π</a:t>
            </a:r>
            <a:r>
              <a:rPr lang="en-US" sz="1375" baseline="-400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4027587" y="7180540"/>
            <a:ext cx="3128844" cy="1165860"/>
          </a:xfrm>
          <a:prstGeom prst="rect">
            <a:avLst/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4027587" y="7180540"/>
            <a:ext cx="22860" cy="116586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4164747" y="7275790"/>
            <a:ext cx="296370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4164747" y="7614881"/>
            <a:ext cx="2963705" cy="674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Clipped objective → update π </a:t>
            </a:r>
            <a:r>
              <a:rPr lang="en-US" sz="1500" baseline="-400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914400" y="8620720"/>
            <a:ext cx="16459200" cy="87630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14400" y="8620720"/>
            <a:ext cx="38100" cy="87630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162050" y="8735020"/>
            <a:ext cx="164957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Reward function =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specification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Tăng α → model giữ số liệu nhiều hơn · tăng γ → conservative hơn · tăng δ → diverse hơn. Cùng kiến trúc, khác trọng số → khác hẳn behavior.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914400" y="949702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 rot="2700000">
            <a:off x="914400" y="976943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238250" y="971419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6471702" y="9714190"/>
            <a:ext cx="97809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25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81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3 · PPO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872490"/>
            <a:ext cx="1695297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50" b="1" kern="0" spc="-56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Vòng lặp huấn luyện &amp; cấu hình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14400" y="1658303"/>
            <a:ext cx="9467731" cy="8373428"/>
          </a:xfrm>
          <a:prstGeom prst="roundRect">
            <a:avLst>
              <a:gd name="adj" fmla="val 455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6820" y="1970723"/>
            <a:ext cx="910817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Vòng lặp PPO · mỗi batch (16 mẫu)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26820" y="2492693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49269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17370" y="2492693"/>
            <a:ext cx="8499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sources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817370" y="2907983"/>
            <a:ext cx="266938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query_tensors (list 1D)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26820" y="3292793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329279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7370" y="3292793"/>
            <a:ext cx="8499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Actor.generate(query)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817370" y="3738563"/>
            <a:ext cx="7253333" cy="605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do_sample · top_k=0 · top_p=1.0 · max_new=320 · min=64 · no_repeat=3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26820" y="4435793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443579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17370" y="4435793"/>
            <a:ext cx="8499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→ predictions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817370" y="4851083"/>
            <a:ext cx="209681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decoder output (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37980" y="4866322"/>
            <a:ext cx="29672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return_prompt = False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18816" y="4851083"/>
            <a:ext cx="1524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26820" y="5251132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525113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17370" y="5251132"/>
            <a:ext cx="8499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compute_reward_breakdown(src, pred, gold)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817370" y="5666423"/>
            <a:ext cx="393725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reward scalar clip [-1, 1] → tensor rewards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26820" y="6051232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605123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17370" y="6051232"/>
            <a:ext cx="8499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ppo_trainer.step(query, response, rewards)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817370" y="6466523"/>
            <a:ext cx="624736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log_p actor &amp; ref → KL → advantage → clip → update Actor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26820" y="6851332"/>
            <a:ext cx="419100" cy="419100"/>
          </a:xfrm>
          <a:prstGeom prst="ellipse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88720" y="685133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817370" y="6851332"/>
            <a:ext cx="8499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stats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817370" y="7266623"/>
            <a:ext cx="530418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mean_reward · KL · ppo_loss · NumRecall · Halluc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26820" y="7651432"/>
            <a:ext cx="8842891" cy="1089660"/>
          </a:xfrm>
          <a:prstGeom prst="rect">
            <a:avLst/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226820" y="7651432"/>
            <a:ext cx="419100" cy="419100"/>
          </a:xfrm>
          <a:prstGeom prst="ellipse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88720" y="765143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817370" y="7651432"/>
            <a:ext cx="8499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25 bước · quick_eval_on_val(30 mẫu)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817370" y="8066723"/>
            <a:ext cx="559310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= 0.5·val_RougeL + 0.5·val_reward·100 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817370" y="8356282"/>
            <a:ext cx="849991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best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610731" y="1658303"/>
            <a:ext cx="6762750" cy="5894070"/>
          </a:xfrm>
          <a:prstGeom prst="roundRect">
            <a:avLst>
              <a:gd name="adj" fmla="val 64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923151" y="1970723"/>
            <a:ext cx="632204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0923151" y="3075623"/>
            <a:ext cx="364688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1094601" y="2626043"/>
            <a:ext cx="3413391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PPO_LR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4570035" y="3075623"/>
            <a:ext cx="249102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4665285" y="2626043"/>
            <a:ext cx="222432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1e-6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923151" y="3669983"/>
            <a:ext cx="364688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094601" y="3216593"/>
            <a:ext cx="34133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PPO_EPOCHS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4570035" y="3669983"/>
            <a:ext cx="249102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4665285" y="3216593"/>
            <a:ext cx="22243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923151" y="4264343"/>
            <a:ext cx="364688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1094601" y="3810953"/>
            <a:ext cx="34133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· MINI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4570035" y="4264343"/>
            <a:ext cx="249102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4665285" y="3810953"/>
            <a:ext cx="22243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8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0923151" y="4858703"/>
            <a:ext cx="364688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1094601" y="4405313"/>
            <a:ext cx="34133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RL_EPOCHS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4570035" y="4858703"/>
            <a:ext cx="249102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4665285" y="4405313"/>
            <a:ext cx="22243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923151" y="5453062"/>
            <a:ext cx="364688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094601" y="4999672"/>
            <a:ext cx="34133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KL_COEF (β)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4570035" y="5453062"/>
            <a:ext cx="249102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4665285" y="4999672"/>
            <a:ext cx="22243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0923151" y="6047422"/>
            <a:ext cx="364688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1094601" y="5594032"/>
            <a:ext cx="34133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CLIP_RANGE (ε)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4570035" y="6047422"/>
            <a:ext cx="249102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4665285" y="5594032"/>
            <a:ext cx="22243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0923151" y="6641783"/>
            <a:ext cx="364688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1094601" y="6188393"/>
            <a:ext cx="34133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adap_kl_ctrl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4570035" y="6641783"/>
            <a:ext cx="249102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4665285" y="6188393"/>
            <a:ext cx="22243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1094601" y="6782753"/>
            <a:ext cx="34133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mỗi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4665285" y="6782753"/>
            <a:ext cx="22243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steps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0610731" y="7685723"/>
            <a:ext cx="6762750" cy="2346008"/>
          </a:xfrm>
          <a:prstGeom prst="roundRect">
            <a:avLst>
              <a:gd name="adj" fmla="val 1624"/>
            </a:avLst>
          </a:prstGeom>
          <a:solidFill>
            <a:srgbClr val="D8EBE9"/>
          </a:solidFill>
          <a:ln w="7620">
            <a:solidFill>
              <a:srgbClr val="0E6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923151" y="7998143"/>
            <a:ext cx="63220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0923151" y="8394382"/>
            <a:ext cx="6322048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composite = 0.5 · val_rougeL + 0.5 · (val_reward × 100)</a:t>
            </a:r>
            <a:endParaRPr lang="en-US" sz="1725" dirty="0"/>
          </a:p>
        </p:txBody>
      </p:sp>
      <p:sp>
        <p:nvSpPr>
          <p:cNvPr id="73" name="Text 71"/>
          <p:cNvSpPr/>
          <p:nvPr/>
        </p:nvSpPr>
        <p:spPr>
          <a:xfrm>
            <a:off x="10923151" y="9105900"/>
            <a:ext cx="6322048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Đưa cả hai về scale [0, 100] · eval bằng </a:t>
            </a:r>
            <a:r>
              <a:rPr lang="en-US" sz="1725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search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(không phải sampling) → ổn định, tái lặp được.</a:t>
            </a:r>
            <a:endParaRPr lang="en-US" sz="1725" dirty="0"/>
          </a:p>
        </p:txBody>
      </p:sp>
      <p:sp>
        <p:nvSpPr>
          <p:cNvPr id="74" name="Shape 72"/>
          <p:cNvSpPr/>
          <p:nvPr/>
        </p:nvSpPr>
        <p:spPr>
          <a:xfrm>
            <a:off x="914400" y="10031731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 rot="2700000">
            <a:off x="914400" y="1030414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238250" y="1024890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16492776" y="10248900"/>
            <a:ext cx="95702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81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3 · PPO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872490"/>
            <a:ext cx="1695297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50" b="1" kern="0" spc="-56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Ổn định training &amp; rủi ro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14400" y="1658303"/>
            <a:ext cx="3185160" cy="3459480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5110163"/>
            <a:ext cx="318516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658303"/>
            <a:ext cx="3185160" cy="381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91940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26820" y="2001203"/>
            <a:ext cx="1467564" cy="434340"/>
          </a:xfrm>
          <a:prstGeom prst="roundRect">
            <a:avLst>
              <a:gd name="adj" fmla="val 50000"/>
            </a:avLst>
          </a:prstGeom>
          <a:solidFill>
            <a:srgbClr val="F4DC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60170" y="2058353"/>
            <a:ext cx="127706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Auto-stop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26820" y="2530793"/>
            <a:ext cx="263713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Monitoring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6820" y="2987040"/>
            <a:ext cx="2637130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&gt; </a:t>
            </a:r>
            <a:r>
              <a:rPr lang="en-US" sz="1725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tục </a:t>
            </a:r>
            <a:r>
              <a:rPr lang="en-US" sz="1725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bước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dừng training, không lưu checkpoint hỏng.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4232910" y="1658303"/>
            <a:ext cx="3185160" cy="3459480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32910" y="5110163"/>
            <a:ext cx="318516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32910" y="1658303"/>
            <a:ext cx="3185160" cy="3810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32910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10450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45330" y="2001203"/>
            <a:ext cx="1526619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78680" y="2058353"/>
            <a:ext cx="13361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/ finally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45330" y="2530793"/>
            <a:ext cx="263713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Consistency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4545330" y="3271838"/>
            <a:ext cx="263713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ở </a:t>
            </a:r>
            <a:r>
              <a:rPr lang="en-US" sz="1725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eval()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log_prob ở </a:t>
            </a:r>
            <a:r>
              <a:rPr lang="en-US" sz="1725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train()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mismatch. Restore </a:t>
            </a:r>
            <a:r>
              <a:rPr lang="en-US" sz="1725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.train()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kể cả khi OOM.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7551420" y="1658303"/>
            <a:ext cx="3185160" cy="3459480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51420" y="5110163"/>
            <a:ext cx="318516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51420" y="1658303"/>
            <a:ext cx="3185160" cy="38100"/>
          </a:xfrm>
          <a:prstGeom prst="rect">
            <a:avLst/>
          </a:prstGeom>
          <a:solidFill>
            <a:srgbClr val="2A5F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51420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728960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63840" y="2001203"/>
            <a:ext cx="1581150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97190" y="2058353"/>
            <a:ext cx="13906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 fix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63840" y="2530793"/>
            <a:ext cx="263713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return_prompt = False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863840" y="3271838"/>
            <a:ext cx="2637130" cy="157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Encoder-decoder: response chỉ chứa decoder tokens. Nếu ghép encoder input → KL sai về kiến trúc.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0869931" y="1658303"/>
            <a:ext cx="3185160" cy="3459480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869931" y="5110163"/>
            <a:ext cx="318516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869931" y="1658303"/>
            <a:ext cx="3185160" cy="38100"/>
          </a:xfrm>
          <a:prstGeom prst="rect">
            <a:avLst/>
          </a:prstGeom>
          <a:solidFill>
            <a:srgbClr val="6B73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869931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047471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182350" y="2001203"/>
            <a:ext cx="938213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315700" y="2058353"/>
            <a:ext cx="7477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182350" y="2530793"/>
            <a:ext cx="263713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Incomplete Batch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182350" y="3271838"/>
            <a:ext cx="2637130" cy="1264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yêu cầu batch_size cố định. Batch cuối epoch nhỏ hơn → bỏ qua, không crash.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14188440" y="1658303"/>
            <a:ext cx="3185160" cy="3459480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188440" y="5110163"/>
            <a:ext cx="318516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188440" y="1658303"/>
            <a:ext cx="3185160" cy="38100"/>
          </a:xfrm>
          <a:prstGeom prst="rect">
            <a:avLst/>
          </a:prstGeom>
          <a:solidFill>
            <a:srgbClr val="6B73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188440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7365980" y="1658303"/>
            <a:ext cx="9525" cy="345948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500860" y="2001203"/>
            <a:ext cx="1223248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4634210" y="2058353"/>
            <a:ext cx="10327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fail-fast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500860" y="2530793"/>
            <a:ext cx="263713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Key Verify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4500860" y="2987040"/>
            <a:ext cx="2637130" cy="1617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đầu kiểm tra </a:t>
            </a:r>
            <a:r>
              <a:rPr lang="en-US" sz="1725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objective/kl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725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ppo/loss/total </a:t>
            </a:r>
            <a:r>
              <a:rPr lang="en-US" sz="1725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tại — raise ngay nếu TRL đổi tên.</a:t>
            </a:r>
            <a:endParaRPr lang="en-US" sz="1725" dirty="0"/>
          </a:p>
        </p:txBody>
      </p:sp>
      <p:sp>
        <p:nvSpPr>
          <p:cNvPr id="49" name="Shape 47"/>
          <p:cNvSpPr/>
          <p:nvPr/>
        </p:nvSpPr>
        <p:spPr>
          <a:xfrm>
            <a:off x="914400" y="5270182"/>
            <a:ext cx="16459200" cy="4274820"/>
          </a:xfrm>
          <a:prstGeom prst="roundRect">
            <a:avLst>
              <a:gd name="adj" fmla="val 891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150620" y="5411153"/>
            <a:ext cx="1646636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· biểu hiện · biện pháp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1150620" y="6378893"/>
            <a:ext cx="3172897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22070" y="5933123"/>
            <a:ext cx="29251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323517" y="6378893"/>
            <a:ext cx="5786081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494967" y="5933123"/>
            <a:ext cx="561676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HIỆN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0109597" y="6378893"/>
            <a:ext cx="7027783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281047" y="5933123"/>
            <a:ext cx="689571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BIỆN PHÁP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50620" y="6992302"/>
            <a:ext cx="31728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322070" y="6527482"/>
            <a:ext cx="2925184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hacking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4323517" y="6992302"/>
            <a:ext cx="578608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494967" y="6527482"/>
            <a:ext cx="561676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Lặp từ, thêm số bịa để tăng reward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0109597" y="6992302"/>
            <a:ext cx="70277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281047" y="6527482"/>
            <a:ext cx="6895717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score · hard penalty · KL monitoring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150620" y="7594283"/>
            <a:ext cx="31728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322070" y="7133273"/>
            <a:ext cx="29251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drift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4323517" y="7594283"/>
            <a:ext cx="578608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494967" y="7133273"/>
            <a:ext cx="561676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mất tự nhiên, syntax xấu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0109597" y="7594283"/>
            <a:ext cx="70277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0281047" y="7133273"/>
            <a:ext cx="689571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KL_COEF cao = 0.3 · ref model anchor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50620" y="8196263"/>
            <a:ext cx="31728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322070" y="7735253"/>
            <a:ext cx="29251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 reward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4323517" y="8196263"/>
            <a:ext cx="578608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494967" y="7735253"/>
            <a:ext cx="561676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tăng nhưng ROUGE giảm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109597" y="8196263"/>
            <a:ext cx="70277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0281047" y="7735253"/>
            <a:ext cx="689571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 (0.5 ROUGE + 0.5 reward)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150620" y="8798242"/>
            <a:ext cx="317289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322070" y="8337232"/>
            <a:ext cx="29251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divergence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4323517" y="8798242"/>
            <a:ext cx="5786081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494967" y="8337232"/>
            <a:ext cx="561676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tăng vọt bất thường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0109597" y="8798242"/>
            <a:ext cx="70277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0281047" y="8337232"/>
            <a:ext cx="689571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Auto-stop sau 3 bước KL &gt; 5.0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1322070" y="8939213"/>
            <a:ext cx="2925184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bias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4494967" y="8939213"/>
            <a:ext cx="561676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pattern lặp của augmented data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0281047" y="8939213"/>
            <a:ext cx="6895717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dùng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mẫu gốc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914400" y="9545003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 rot="2700000">
            <a:off x="914400" y="9817418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238250" y="9762173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16481346" y="9762173"/>
            <a:ext cx="96845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VIT5 — STAGE 3 · PPO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48690"/>
            <a:ext cx="16952976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6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PPO trên test set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793558"/>
            <a:ext cx="3111460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1850708"/>
            <a:ext cx="293810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 · Stage 3 PPO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97310" y="1793558"/>
            <a:ext cx="2130981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30660" y="1850708"/>
            <a:ext cx="194048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105 mẫu test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9741" y="1793558"/>
            <a:ext cx="2949416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33091" y="1850708"/>
            <a:ext cx="277119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· Stage3_PPO_test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437448"/>
            <a:ext cx="8853011" cy="3539490"/>
          </a:xfrm>
          <a:prstGeom prst="roundRect">
            <a:avLst>
              <a:gd name="adj" fmla="val 107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26820" y="2749868"/>
            <a:ext cx="847501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nội dung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26820" y="3271838"/>
            <a:ext cx="203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26820" y="3649028"/>
            <a:ext cx="203323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77.04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3317200" y="3271838"/>
            <a:ext cx="203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17200" y="3649028"/>
            <a:ext cx="203323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63.59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5407581" y="3271838"/>
            <a:ext cx="203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07581" y="3649028"/>
            <a:ext cx="203323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62.30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7497961" y="3271838"/>
            <a:ext cx="203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BERTSCORE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7961" y="3649028"/>
            <a:ext cx="203323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A5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92.22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226820" y="4353878"/>
            <a:ext cx="847501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n-gram &amp; LCS với gold · BERTScore F1 dùng </a:t>
            </a:r>
            <a:r>
              <a:rPr lang="en-US" sz="1800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xlm-roberta-base </a:t>
            </a: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similarity ở cấp embedding.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96012" y="2437448"/>
            <a:ext cx="7377589" cy="3539490"/>
          </a:xfrm>
          <a:prstGeom prst="roundRect">
            <a:avLst>
              <a:gd name="adj" fmla="val 1076"/>
            </a:avLst>
          </a:prstGeom>
          <a:solidFill>
            <a:srgbClr val="14181F"/>
          </a:solidFill>
          <a:ln w="762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308431" y="2749868"/>
            <a:ext cx="69553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TRUNG BÌNH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08431" y="3165158"/>
            <a:ext cx="695533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0.5755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10308431" y="4155758"/>
            <a:ext cx="6955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F7F3E9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thang [−1.0, +1.0] sau clip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308431" y="4679633"/>
            <a:ext cx="6752749" cy="9525"/>
          </a:xfrm>
          <a:prstGeom prst="rect">
            <a:avLst/>
          </a:prstGeom>
          <a:solidFill>
            <a:srgbClr val="F7F3E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08431" y="4879657"/>
            <a:ext cx="39556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52" dirty="0">
                <a:solidFill>
                  <a:srgbClr val="F7F3E9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308431" y="5237798"/>
            <a:ext cx="395569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7F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0.5·R-L + 0.5·rwd·100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14400" y="6148388"/>
            <a:ext cx="5372100" cy="2632710"/>
          </a:xfrm>
          <a:prstGeom prst="roundRect">
            <a:avLst>
              <a:gd name="adj" fmla="val 1447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" y="8773477"/>
            <a:ext cx="53721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4400" y="6148388"/>
            <a:ext cx="5372100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4400" y="6148388"/>
            <a:ext cx="9525" cy="263271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78880" y="6148388"/>
            <a:ext cx="9525" cy="263271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226820" y="6491288"/>
            <a:ext cx="1593771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60170" y="6548438"/>
            <a:ext cx="14032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giữ số liệu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26820" y="7020878"/>
            <a:ext cx="488967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Recall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226820" y="7542848"/>
            <a:ext cx="48896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65.06</a:t>
            </a:r>
            <a:r>
              <a:rPr lang="en-US" sz="210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1226820" y="8133398"/>
            <a:ext cx="48896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số liệu trong gold xuất hiện trong prediction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457950" y="6148388"/>
            <a:ext cx="5372100" cy="2632710"/>
          </a:xfrm>
          <a:prstGeom prst="roundRect">
            <a:avLst>
              <a:gd name="adj" fmla="val 1447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57950" y="8773477"/>
            <a:ext cx="53721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57950" y="6148388"/>
            <a:ext cx="5372100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57950" y="6148388"/>
            <a:ext cx="9525" cy="263271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822430" y="6148388"/>
            <a:ext cx="9525" cy="263271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770370" y="6491288"/>
            <a:ext cx="2148126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03720" y="6548438"/>
            <a:ext cx="19576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số bịa rất thấp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70370" y="7020878"/>
            <a:ext cx="488967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Hallucination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770370" y="7542848"/>
            <a:ext cx="48896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2.03</a:t>
            </a:r>
            <a:r>
              <a:rPr lang="en-US" sz="210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6770370" y="8133398"/>
            <a:ext cx="48896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|pred \ (src ∪ gold)| / |pred|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001500" y="6148388"/>
            <a:ext cx="5372100" cy="2632710"/>
          </a:xfrm>
          <a:prstGeom prst="roundRect">
            <a:avLst>
              <a:gd name="adj" fmla="val 14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2001500" y="8773477"/>
            <a:ext cx="53721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2001500" y="6148388"/>
            <a:ext cx="5372100" cy="381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2001500" y="6148388"/>
            <a:ext cx="9525" cy="263271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7365980" y="6148388"/>
            <a:ext cx="9525" cy="263271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2313920" y="6491288"/>
            <a:ext cx="1735931" cy="434340"/>
          </a:xfrm>
          <a:prstGeom prst="roundRect">
            <a:avLst>
              <a:gd name="adj" fmla="val 50000"/>
            </a:avLst>
          </a:prstGeom>
          <a:solidFill>
            <a:srgbClr val="F4DC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2447270" y="6548438"/>
            <a:ext cx="15454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cải thiện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2313920" y="7020878"/>
            <a:ext cx="488967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Compliance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12313920" y="7542848"/>
            <a:ext cx="48896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0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43.81</a:t>
            </a:r>
            <a:r>
              <a:rPr lang="en-US" sz="210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4200" dirty="0"/>
          </a:p>
        </p:txBody>
      </p:sp>
      <p:sp>
        <p:nvSpPr>
          <p:cNvPr id="57" name="Text 55"/>
          <p:cNvSpPr/>
          <p:nvPr/>
        </p:nvSpPr>
        <p:spPr>
          <a:xfrm>
            <a:off x="12313920" y="8133398"/>
            <a:ext cx="48896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ratio =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0.182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target ∈ [0.18, 0.27]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14400" y="8952548"/>
            <a:ext cx="16459200" cy="99060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4400" y="8952548"/>
            <a:ext cx="38100" cy="99060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181100" y="9123998"/>
            <a:ext cx="164576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mạnh: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hallucination chỉ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hard penalty &amp; reward design hiệu quả · BERTScore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92.22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giữ ngữ nghĩa tốt.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yếu: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length ratio trung bình 0.182 nằm sát biên dưới → tóm tắt có xu hướng ngắn hơn target.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14400" y="9943148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 rot="2700000">
            <a:off x="914400" y="10215563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238250" y="10160318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6471702" y="10160318"/>
            <a:ext cx="97809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BARTPHO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model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425065"/>
            <a:ext cx="7342823" cy="5977890"/>
          </a:xfrm>
          <a:prstGeom prst="roundRect">
            <a:avLst>
              <a:gd name="adj" fmla="val 637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6820" y="2779395"/>
            <a:ext cx="248138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BARTpho-word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073384" y="2737485"/>
            <a:ext cx="871418" cy="434340"/>
          </a:xfrm>
          <a:prstGeom prst="roundRect">
            <a:avLst>
              <a:gd name="adj" fmla="val 50000"/>
            </a:avLst>
          </a:prstGeom>
          <a:solidFill>
            <a:srgbClr val="F3E2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06734" y="2794635"/>
            <a:ext cx="68091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VinAI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26820" y="3926205"/>
            <a:ext cx="277379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98270" y="3476625"/>
            <a:ext cx="2514113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00619" y="3926205"/>
            <a:ext cx="39441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72069" y="3476625"/>
            <a:ext cx="37196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 Encoder-Decoder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26820" y="4520565"/>
            <a:ext cx="277379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98270" y="4067175"/>
            <a:ext cx="25141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/ Decoder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000619" y="4520565"/>
            <a:ext cx="39441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53744" y="4067175"/>
            <a:ext cx="37196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+ 12 layers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26820" y="5114925"/>
            <a:ext cx="277379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98270" y="4661535"/>
            <a:ext cx="25141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d_model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00619" y="5114925"/>
            <a:ext cx="39441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53744" y="4661535"/>
            <a:ext cx="37196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26820" y="5709285"/>
            <a:ext cx="277379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98270" y="5255895"/>
            <a:ext cx="25141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heads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00619" y="5709285"/>
            <a:ext cx="39441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53744" y="5255895"/>
            <a:ext cx="37196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26820" y="6303645"/>
            <a:ext cx="277379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98270" y="5850255"/>
            <a:ext cx="25141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000619" y="6303645"/>
            <a:ext cx="39441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53744" y="5850255"/>
            <a:ext cx="37196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6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~420M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26820" y="6898005"/>
            <a:ext cx="277379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98270" y="6444615"/>
            <a:ext cx="25141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000619" y="6898005"/>
            <a:ext cx="39441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72069" y="6444615"/>
            <a:ext cx="37196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 · word-level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26820" y="7492365"/>
            <a:ext cx="2773799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398270" y="7038975"/>
            <a:ext cx="25141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00619" y="7492365"/>
            <a:ext cx="394418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72069" y="7038975"/>
            <a:ext cx="37196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embedding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98270" y="7633335"/>
            <a:ext cx="251411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172069" y="7633335"/>
            <a:ext cx="37196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· Vietnamese text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562023" y="2425065"/>
            <a:ext cx="90759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FLOW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562023" y="2878455"/>
            <a:ext cx="8811578" cy="6400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79193" y="3038475"/>
            <a:ext cx="862855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Text → BPE → Token IDs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429849" y="3613785"/>
            <a:ext cx="90759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562023" y="4029075"/>
            <a:ext cx="8811578" cy="998220"/>
          </a:xfrm>
          <a:prstGeom prst="roundRect">
            <a:avLst>
              <a:gd name="adj" fmla="val 3817"/>
            </a:avLst>
          </a:prstGeom>
          <a:solidFill>
            <a:srgbClr val="F3E2D2"/>
          </a:solidFill>
          <a:ln w="7620">
            <a:solidFill>
              <a:srgbClr val="B6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798243" y="4208145"/>
            <a:ext cx="858931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· 12×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798243" y="4528185"/>
            <a:ext cx="858931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Self-Attn + FFN + Absolute Pos Embed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429849" y="5122545"/>
            <a:ext cx="90759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cross-attention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562023" y="5537835"/>
            <a:ext cx="8811578" cy="998220"/>
          </a:xfrm>
          <a:prstGeom prst="roundRect">
            <a:avLst>
              <a:gd name="adj" fmla="val 3817"/>
            </a:avLst>
          </a:prstGeom>
          <a:solidFill>
            <a:srgbClr val="F3E2D2"/>
          </a:solidFill>
          <a:ln w="7620">
            <a:solidFill>
              <a:srgbClr val="B6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798243" y="5716905"/>
            <a:ext cx="858931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· 12×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798243" y="6036945"/>
            <a:ext cx="858931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Self-Attn + Cross-Attn(H) + FFN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429849" y="6631305"/>
            <a:ext cx="90759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8562023" y="7046595"/>
            <a:ext cx="8811578" cy="6400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779193" y="7206615"/>
            <a:ext cx="862855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Beam Search → Summary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14400" y="8631555"/>
            <a:ext cx="16459200" cy="4255770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226820" y="8943975"/>
            <a:ext cx="1630939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nhanh vs ViT5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1226820" y="10159365"/>
            <a:ext cx="3041928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268748" y="10159365"/>
            <a:ext cx="5376863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440198" y="9599295"/>
            <a:ext cx="1813203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73548" y="9656445"/>
            <a:ext cx="16227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VIT5-BASE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645611" y="10159365"/>
            <a:ext cx="7415570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817060" y="9599295"/>
            <a:ext cx="2630686" cy="434340"/>
          </a:xfrm>
          <a:prstGeom prst="roundRect">
            <a:avLst>
              <a:gd name="adj" fmla="val 50000"/>
            </a:avLst>
          </a:prstGeom>
          <a:solidFill>
            <a:srgbClr val="F3E2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950410" y="9656445"/>
            <a:ext cx="24429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BARTPHO-WORD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226820" y="10788016"/>
            <a:ext cx="304192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398270" y="10307956"/>
            <a:ext cx="27902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4268748" y="10788016"/>
            <a:ext cx="537686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278892" y="10307956"/>
            <a:ext cx="519526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226M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9645611" y="10788016"/>
            <a:ext cx="741557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594594" y="10307956"/>
            <a:ext cx="729513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420M </a:t>
            </a: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gần 2×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226820" y="11382375"/>
            <a:ext cx="304192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398270" y="10928985"/>
            <a:ext cx="279028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d_model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4268748" y="11382375"/>
            <a:ext cx="537686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278892" y="10928985"/>
            <a:ext cx="51952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9645611" y="11382375"/>
            <a:ext cx="741557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594594" y="10928985"/>
            <a:ext cx="729513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226820" y="11976735"/>
            <a:ext cx="304192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398270" y="11523345"/>
            <a:ext cx="279028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4268748" y="11976735"/>
            <a:ext cx="537686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440198" y="11523345"/>
            <a:ext cx="51952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bias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9645611" y="11976735"/>
            <a:ext cx="741557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817061" y="11523345"/>
            <a:ext cx="729513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embed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398270" y="12117706"/>
            <a:ext cx="27902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4440198" y="12117706"/>
            <a:ext cx="5195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corruption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9817061" y="12117706"/>
            <a:ext cx="72951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914400" y="12887325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 rot="2700000">
            <a:off x="914400" y="13159740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238250" y="13104495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6414076" y="13104495"/>
            <a:ext cx="10357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25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BARTPHO — STAGE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summarization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20265"/>
            <a:ext cx="685800" cy="38100"/>
          </a:xfrm>
          <a:prstGeom prst="rect">
            <a:avLst/>
          </a:prstGeom>
          <a:solidFill>
            <a:srgbClr val="B65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501265"/>
            <a:ext cx="5257800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620" y="271843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0620" y="309562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vinai/bartpho-word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50620" y="3437572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denoising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34100" y="305133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5100" y="2501265"/>
            <a:ext cx="5257800" cy="147351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51320" y="271843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51320" y="309562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VietNews 20k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751320" y="3437572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epochs · bf16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34800" y="305133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115800" y="2501265"/>
            <a:ext cx="5257800" cy="1473517"/>
          </a:xfrm>
          <a:prstGeom prst="rect">
            <a:avLst/>
          </a:prstGeom>
          <a:solidFill>
            <a:srgbClr val="B6541A"/>
          </a:solidFill>
          <a:ln w="7620">
            <a:solidFill>
              <a:srgbClr val="B6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52020" y="2718435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52020" y="309562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 Stage 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52020" y="3437572"/>
            <a:ext cx="49289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Biết tóm tắt TV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317683"/>
            <a:ext cx="8096250" cy="4533900"/>
          </a:xfrm>
          <a:prstGeom prst="roundRect">
            <a:avLst>
              <a:gd name="adj" fmla="val 840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26820" y="4630103"/>
            <a:ext cx="769555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So sánh fair với ViT5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26820" y="5152073"/>
            <a:ext cx="76955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bộ dữ liệu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26820" y="5548313"/>
            <a:ext cx="76955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Cùng VietNews 20k, cùng filter mềm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26820" y="5891213"/>
            <a:ext cx="769555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Cùng </a:t>
            </a: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= 42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26820" y="6256973"/>
            <a:ext cx="76955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Cùng train/test split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26820" y="6771323"/>
            <a:ext cx="76955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hyperparameters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66800" y="7167563"/>
            <a:ext cx="770763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LR = 3e-5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Effective batch = 32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Epochs = 3, early stopping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Test: beam = 4, ROUGE-1/2/L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277350" y="4317683"/>
            <a:ext cx="8096250" cy="4533900"/>
          </a:xfrm>
          <a:prstGeom prst="roundRect">
            <a:avLst>
              <a:gd name="adj" fmla="val 840"/>
            </a:avLst>
          </a:prstGeom>
          <a:solidFill>
            <a:srgbClr val="F3E2D2"/>
          </a:solidFill>
          <a:ln w="7620">
            <a:solidFill>
              <a:srgbClr val="B6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589770" y="4630103"/>
            <a:ext cx="76955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ĐÍCH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89770" y="5083493"/>
            <a:ext cx="769555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ảnh hưởng của </a:t>
            </a:r>
            <a:r>
              <a:rPr lang="en-US" sz="2250" b="1" i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model </a:t>
            </a:r>
            <a:r>
              <a:rPr lang="en-US" sz="22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(T5 vs BART) khi cùng điều kiện training.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589770" y="6055043"/>
            <a:ext cx="1615083" cy="434340"/>
          </a:xfrm>
          <a:prstGeom prst="roundRect">
            <a:avLst>
              <a:gd name="adj" fmla="val 50000"/>
            </a:avLst>
          </a:prstGeom>
          <a:solidFill>
            <a:srgbClr val="D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23120" y="6112193"/>
            <a:ext cx="14245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A5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· relative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338203" y="6055043"/>
            <a:ext cx="2075259" cy="434340"/>
          </a:xfrm>
          <a:prstGeom prst="roundRect">
            <a:avLst>
              <a:gd name="adj" fmla="val 50000"/>
            </a:avLst>
          </a:prstGeom>
          <a:solidFill>
            <a:srgbClr val="F3E2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471553" y="6112193"/>
            <a:ext cx="18847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6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 · absolute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90639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rot="2700000">
            <a:off x="914400" y="93364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38250" y="92811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479084" y="9281160"/>
            <a:ext cx="9707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25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BARTPHO — STAGE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adaptation y tế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386965"/>
            <a:ext cx="5257800" cy="719138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50620" y="260413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 Stage 1 ckpt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134100" y="255984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15100" y="2386965"/>
            <a:ext cx="5257800" cy="719138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51320" y="260413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Health 2.3k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734800" y="255984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15800" y="2386965"/>
            <a:ext cx="5257800" cy="719138"/>
          </a:xfrm>
          <a:prstGeom prst="rect">
            <a:avLst/>
          </a:prstGeom>
          <a:solidFill>
            <a:srgbClr val="B6541A"/>
          </a:solidFill>
          <a:ln w="7620">
            <a:solidFill>
              <a:srgbClr val="B6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52020" y="2604135"/>
            <a:ext cx="4928921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 Stage 2 · best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3410903"/>
            <a:ext cx="8096250" cy="5894070"/>
          </a:xfrm>
          <a:prstGeom prst="roundRect">
            <a:avLst>
              <a:gd name="adj" fmla="val 64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26820" y="3723322"/>
            <a:ext cx="769555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· giống ViT5 Stage 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26820" y="4828223"/>
            <a:ext cx="34541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98270" y="4378643"/>
            <a:ext cx="321484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80942" y="4828223"/>
            <a:ext cx="401728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52392" y="4378643"/>
            <a:ext cx="379490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2.3k · augmented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26820" y="5422583"/>
            <a:ext cx="34541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98270" y="4969193"/>
            <a:ext cx="32148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MAX_INPUT_LEN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80942" y="5422583"/>
            <a:ext cx="401728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31874" y="4969193"/>
            <a:ext cx="37949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26820" y="6016943"/>
            <a:ext cx="34541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98270" y="5563553"/>
            <a:ext cx="32148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MAX_TARGET_LEN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80942" y="6016943"/>
            <a:ext cx="401728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1874" y="5563553"/>
            <a:ext cx="37949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26820" y="6611303"/>
            <a:ext cx="34541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98270" y="6157913"/>
            <a:ext cx="32148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GEN_MAX / MIN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80942" y="6611303"/>
            <a:ext cx="401728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1874" y="6157913"/>
            <a:ext cx="37949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 / 64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26820" y="7205663"/>
            <a:ext cx="34541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98270" y="6752273"/>
            <a:ext cx="32148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80942" y="7205663"/>
            <a:ext cx="401728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1874" y="6752273"/>
            <a:ext cx="37949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26820" y="7800022"/>
            <a:ext cx="34541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98270" y="7346632"/>
            <a:ext cx="32148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680942" y="7800022"/>
            <a:ext cx="401728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31874" y="7346632"/>
            <a:ext cx="37949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3e-5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26820" y="8394383"/>
            <a:ext cx="3454122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98270" y="7940993"/>
            <a:ext cx="32148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smoothing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680942" y="8394383"/>
            <a:ext cx="401728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31874" y="7940993"/>
            <a:ext cx="37949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98270" y="8535353"/>
            <a:ext cx="32148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852392" y="8535353"/>
            <a:ext cx="37949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 = 2 · rougeL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277350" y="3410903"/>
            <a:ext cx="8096250" cy="5894070"/>
          </a:xfrm>
          <a:prstGeom prst="roundRect">
            <a:avLst>
              <a:gd name="adj" fmla="val 646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589770" y="3723322"/>
            <a:ext cx="769555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 · inference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9589770" y="4828223"/>
            <a:ext cx="495002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761220" y="4378643"/>
            <a:ext cx="4755624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NUM_BEAMS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4539794" y="4828223"/>
            <a:ext cx="252138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4635044" y="4378643"/>
            <a:ext cx="225468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589770" y="5422583"/>
            <a:ext cx="495002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761220" y="4969193"/>
            <a:ext cx="475562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penalty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4539794" y="5422583"/>
            <a:ext cx="252138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4635044" y="4969193"/>
            <a:ext cx="225468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589770" y="6016943"/>
            <a:ext cx="495002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761220" y="5563553"/>
            <a:ext cx="475562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candidates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4539794" y="6016943"/>
            <a:ext cx="252138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4635044" y="5563553"/>
            <a:ext cx="225468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589770" y="6611303"/>
            <a:ext cx="495002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761220" y="6157913"/>
            <a:ext cx="475562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W_NUMBER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4539794" y="6611303"/>
            <a:ext cx="252138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4635044" y="6157913"/>
            <a:ext cx="225468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+0.50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589770" y="7205663"/>
            <a:ext cx="4950023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761220" y="6752273"/>
            <a:ext cx="475562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W_LENGTH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4539794" y="7205663"/>
            <a:ext cx="252138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4635044" y="6752273"/>
            <a:ext cx="225468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+0.30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9761220" y="7346632"/>
            <a:ext cx="47556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W_HALLUC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4635044" y="7346632"/>
            <a:ext cx="22546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B0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−0.20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914400" y="9533573"/>
            <a:ext cx="16459200" cy="67056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14400" y="9533573"/>
            <a:ext cx="38100" cy="67056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181100" y="9705023"/>
            <a:ext cx="1645767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BARTpho </a:t>
            </a: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420M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vs ViT5 </a:t>
            </a: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226M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model lớn hơn gần 2×. Liệu có tốt hơn cho task chỉ 780 mẫu?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Xem kết quả thực nghiệm.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914400" y="10204133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 rot="2700000">
            <a:off x="914400" y="10476547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238250" y="10421302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6420743" y="10421302"/>
            <a:ext cx="10290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429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BARTPHO — STAGE 2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834390"/>
            <a:ext cx="16952976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kern="0" spc="-54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SFT trên test set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90650"/>
            <a:ext cx="685800" cy="38100"/>
          </a:xfrm>
          <a:prstGeom prst="rect">
            <a:avLst/>
          </a:prstGeom>
          <a:solidFill>
            <a:srgbClr val="B65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43050"/>
            <a:ext cx="3183255" cy="434340"/>
          </a:xfrm>
          <a:prstGeom prst="roundRect">
            <a:avLst>
              <a:gd name="adj" fmla="val 50000"/>
            </a:avLst>
          </a:prstGeom>
          <a:solidFill>
            <a:srgbClr val="B65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1600200"/>
            <a:ext cx="30120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BARTpho-syllable · 420M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69105" y="1543050"/>
            <a:ext cx="2130981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02455" y="1600200"/>
            <a:ext cx="194048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105 mẫu test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71536" y="1543050"/>
            <a:ext cx="2852023" cy="434340"/>
          </a:xfrm>
          <a:prstGeom prst="roundRect">
            <a:avLst>
              <a:gd name="adj" fmla="val 50000"/>
            </a:avLst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4886" y="1600200"/>
            <a:ext cx="26708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· 4 · diversity 0.5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110740"/>
            <a:ext cx="16459200" cy="3078480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50620" y="2251710"/>
            <a:ext cx="1646636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vs. SFT + Number-Aware Rerank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50620" y="3219450"/>
            <a:ext cx="2278380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2070" y="2773680"/>
            <a:ext cx="20116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29000" y="3219450"/>
            <a:ext cx="1815465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4250" y="2773680"/>
            <a:ext cx="15487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ROUGE-1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44465" y="3219450"/>
            <a:ext cx="1815465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39715" y="2773680"/>
            <a:ext cx="15487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ROUGE-2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59930" y="3219450"/>
            <a:ext cx="1815465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55180" y="2773680"/>
            <a:ext cx="15487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ROUGE-L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875395" y="3219450"/>
            <a:ext cx="2215277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70645" y="2773680"/>
            <a:ext cx="194857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BERTSCORE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090672" y="3219450"/>
            <a:ext cx="2415064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185922" y="2773680"/>
            <a:ext cx="214836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RECALL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505736" y="3219450"/>
            <a:ext cx="1615678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600986" y="2773680"/>
            <a:ext cx="134897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121414" y="3219450"/>
            <a:ext cx="2015966" cy="1524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216664" y="2773680"/>
            <a:ext cx="17492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kern="0" spc="216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COMP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50620" y="3832860"/>
            <a:ext cx="227838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22070" y="3368040"/>
            <a:ext cx="201168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</a:t>
            </a:r>
            <a:r>
              <a:rPr lang="en-US" sz="172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429000" y="3832860"/>
            <a:ext cx="1815465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24250" y="3368040"/>
            <a:ext cx="1548765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49.20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244465" y="3832860"/>
            <a:ext cx="1815465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39715" y="3368040"/>
            <a:ext cx="1548765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16.95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059930" y="3832860"/>
            <a:ext cx="1815465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55180" y="3368040"/>
            <a:ext cx="1548765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26.50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875395" y="3832860"/>
            <a:ext cx="221527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70645" y="3368040"/>
            <a:ext cx="1948577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81.42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090672" y="3832860"/>
            <a:ext cx="241506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185922" y="3368040"/>
            <a:ext cx="2148364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4.87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3505736" y="3832860"/>
            <a:ext cx="161567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600986" y="3368040"/>
            <a:ext cx="134897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76.35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121414" y="3832860"/>
            <a:ext cx="201596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5216664" y="3368040"/>
            <a:ext cx="174926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2.86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50620" y="4450080"/>
            <a:ext cx="2278380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322070" y="3973830"/>
            <a:ext cx="20116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+ Rerank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429000" y="4450080"/>
            <a:ext cx="1815465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24250" y="3973830"/>
            <a:ext cx="15487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53.69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44465" y="4450080"/>
            <a:ext cx="1815465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339715" y="3973830"/>
            <a:ext cx="15487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18.02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7059930" y="4450080"/>
            <a:ext cx="1815465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55180" y="3973830"/>
            <a:ext cx="15487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27.71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875395" y="4450080"/>
            <a:ext cx="2215277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970645" y="3973830"/>
            <a:ext cx="19485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81.51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1090672" y="4450080"/>
            <a:ext cx="2415064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1185922" y="3973830"/>
            <a:ext cx="2148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7.41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3505736" y="4450080"/>
            <a:ext cx="1615678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3600986" y="3973830"/>
            <a:ext cx="13489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63.65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121414" y="4450080"/>
            <a:ext cx="2015966" cy="9525"/>
          </a:xfrm>
          <a:prstGeom prst="rect">
            <a:avLst/>
          </a:prstGeom>
          <a:solidFill>
            <a:srgbClr val="ECE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5216664" y="3973830"/>
            <a:ext cx="17492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6.67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322070" y="4591050"/>
            <a:ext cx="20116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</a:t>
            </a:r>
            <a:r>
              <a:rPr lang="en-US" sz="1725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3524250" y="4591050"/>
            <a:ext cx="1548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+4.49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5339715" y="4591050"/>
            <a:ext cx="1548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+1.07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7155180" y="4591050"/>
            <a:ext cx="1548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+1.21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8970645" y="4591050"/>
            <a:ext cx="19485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+0.09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1185922" y="4591050"/>
            <a:ext cx="21483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+2.54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3600986" y="4591050"/>
            <a:ext cx="13489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−12.70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5216664" y="4591050"/>
            <a:ext cx="17492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+3.81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914400" y="5322570"/>
            <a:ext cx="5397461" cy="2381250"/>
          </a:xfrm>
          <a:prstGeom prst="roundRect">
            <a:avLst>
              <a:gd name="adj" fmla="val 16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14400" y="7696200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14400" y="5322570"/>
            <a:ext cx="5397461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14400" y="5322570"/>
            <a:ext cx="9525" cy="238125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304241" y="5322570"/>
            <a:ext cx="9525" cy="238125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131570" y="5494020"/>
            <a:ext cx="1229678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264920" y="5551170"/>
            <a:ext cx="10391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−12.70 đ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131570" y="5985510"/>
            <a:ext cx="511201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2400" dirty="0"/>
          </a:p>
        </p:txBody>
      </p:sp>
      <p:sp>
        <p:nvSpPr>
          <p:cNvPr id="77" name="Text 75"/>
          <p:cNvSpPr/>
          <p:nvPr/>
        </p:nvSpPr>
        <p:spPr>
          <a:xfrm>
            <a:off x="1131570" y="6507480"/>
            <a:ext cx="511201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76.35 </a:t>
            </a:r>
            <a:r>
              <a:rPr lang="en-US" sz="180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315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63.65</a:t>
            </a:r>
            <a:endParaRPr lang="en-US" sz="3150" dirty="0"/>
          </a:p>
        </p:txBody>
      </p:sp>
      <p:sp>
        <p:nvSpPr>
          <p:cNvPr id="78" name="Text 76"/>
          <p:cNvSpPr/>
          <p:nvPr/>
        </p:nvSpPr>
        <p:spPr>
          <a:xfrm>
            <a:off x="1131570" y="6945630"/>
            <a:ext cx="5112014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 giảm số bịa 16.6% — vẫn cao hơn nhiều so với ViT5.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6445211" y="5322570"/>
            <a:ext cx="5397461" cy="2381250"/>
          </a:xfrm>
          <a:prstGeom prst="roundRect">
            <a:avLst>
              <a:gd name="adj" fmla="val 16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445211" y="7696200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445211" y="5322570"/>
            <a:ext cx="5397461" cy="38100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445211" y="5322570"/>
            <a:ext cx="9525" cy="238125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1835051" y="5322570"/>
            <a:ext cx="9525" cy="238125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662381" y="5494020"/>
            <a:ext cx="1178362" cy="434340"/>
          </a:xfrm>
          <a:prstGeom prst="roundRect">
            <a:avLst>
              <a:gd name="adj" fmla="val 50000"/>
            </a:avLst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795731" y="5551170"/>
            <a:ext cx="98786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+4.49 đ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6662381" y="5985510"/>
            <a:ext cx="511201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ROUGE-1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6662381" y="6507480"/>
            <a:ext cx="511201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49.20 </a:t>
            </a:r>
            <a:r>
              <a:rPr lang="en-US" sz="1800" b="1" dirty="0">
                <a:solidFill>
                  <a:srgbClr val="6B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3150" b="1" dirty="0">
                <a:solidFill>
                  <a:srgbClr val="2F7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53.69</a:t>
            </a:r>
            <a:endParaRPr lang="en-US" sz="3150" dirty="0"/>
          </a:p>
        </p:txBody>
      </p:sp>
      <p:sp>
        <p:nvSpPr>
          <p:cNvPr id="88" name="Text 86"/>
          <p:cNvSpPr/>
          <p:nvPr/>
        </p:nvSpPr>
        <p:spPr>
          <a:xfrm>
            <a:off x="6662381" y="6945630"/>
            <a:ext cx="511201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thiện n-gram overlap rõ rệt nhờ rerank.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11976021" y="7696200"/>
            <a:ext cx="5397461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976021" y="5322570"/>
            <a:ext cx="5397461" cy="381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1976021" y="5322570"/>
            <a:ext cx="9525" cy="238125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7365862" y="5322570"/>
            <a:ext cx="9525" cy="2381250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2193191" y="5494020"/>
            <a:ext cx="1620560" cy="43434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2326541" y="5551170"/>
            <a:ext cx="14300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Cảnh báo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12193191" y="5985510"/>
            <a:ext cx="511201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ViT5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12193191" y="6507480"/>
            <a:ext cx="5112014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BARTpho NumRecall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7.41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ViT5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78.47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Halluc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63.65 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</a:t>
            </a:r>
            <a:r>
              <a:rPr lang="en-US" sz="1800" b="1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5.19</a:t>
            </a: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~10×.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914400" y="7837170"/>
            <a:ext cx="16459200" cy="883920"/>
          </a:xfrm>
          <a:prstGeom prst="rect">
            <a:avLst/>
          </a:prstGeom>
          <a:solidFill>
            <a:srgbClr val="D8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914400" y="7837170"/>
            <a:ext cx="38100" cy="88392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1162050" y="7951470"/>
            <a:ext cx="16495776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BARTpho 420M lớn hơn ViT5 226M nhưng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vượt được </a:t>
            </a:r>
            <a:r>
              <a:rPr lang="en-US" sz="1800" dirty="0">
                <a:solidFill>
                  <a:srgbClr val="14181F"/>
                </a:solidFill>
                <a:highlight>
                  <a:srgbClr val="D8EBE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trên task số liệu y tế — encoder-only pretraining + ít data domain → hallucinate số liệu nghiêm trọng. </a:t>
            </a: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ViT5 trở thành lựa chọn chính.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914400" y="94830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 rot="2700000">
            <a:off x="914400" y="97555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238250" y="97002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16418005" y="9700260"/>
            <a:ext cx="10317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HẬU XỬ LÝ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53490"/>
            <a:ext cx="169529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Number-Aware Reranking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20265"/>
            <a:ext cx="685800" cy="3810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463165"/>
            <a:ext cx="8096250" cy="1468755"/>
          </a:xfrm>
          <a:prstGeom prst="rect">
            <a:avLst/>
          </a:prstGeom>
          <a:solidFill>
            <a:srgbClr val="F4DC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463165"/>
            <a:ext cx="38100" cy="1468755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1100" y="2634615"/>
            <a:ext cx="782897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1100" y="3011805"/>
            <a:ext cx="78289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search chọn log-prob cao nhất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81100" y="3440430"/>
            <a:ext cx="782897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Không quan tâm số liệu chính xác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77350" y="2463165"/>
            <a:ext cx="8096250" cy="1468755"/>
          </a:xfrm>
          <a:prstGeom prst="rect">
            <a:avLst/>
          </a:prstGeom>
          <a:solidFill>
            <a:srgbClr val="DDEE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77350" y="2463165"/>
            <a:ext cx="38100" cy="1468755"/>
          </a:xfrm>
          <a:prstGeom prst="rect">
            <a:avLst/>
          </a:prstGeom>
          <a:solidFill>
            <a:srgbClr val="2F7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44050" y="2634615"/>
            <a:ext cx="782897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→ SCORE → SELECT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44050" y="3011805"/>
            <a:ext cx="78289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nhiều, chấm theo domain, chọn tốt nhất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4198620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50620" y="4415790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text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733925" y="456009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14925" y="4198620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51145" y="4415790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Beam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351145" y="4757738"/>
            <a:ext cx="3486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 candidates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34450" y="456009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315450" y="4198620"/>
            <a:ext cx="3857625" cy="1096327"/>
          </a:xfrm>
          <a:prstGeom prst="rect">
            <a:avLst/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551670" y="4415790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function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134975" y="456009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515975" y="4198620"/>
            <a:ext cx="3857625" cy="1096327"/>
          </a:xfrm>
          <a:prstGeom prst="rect">
            <a:avLst/>
          </a:prstGeom>
          <a:solidFill>
            <a:srgbClr val="0E6E6B"/>
          </a:solidFill>
          <a:ln w="7620">
            <a:solidFill>
              <a:srgbClr val="0E6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52195" y="4415790"/>
            <a:ext cx="348674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summary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14400" y="5523548"/>
            <a:ext cx="16459200" cy="765810"/>
          </a:xfrm>
          <a:prstGeom prst="rect">
            <a:avLst/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19200" y="5733098"/>
            <a:ext cx="8191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D4B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2114550" y="5733098"/>
            <a:ext cx="22490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7F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415659" y="5733098"/>
            <a:ext cx="260270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7F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+0.50 × NumRecall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5094565" y="5733098"/>
            <a:ext cx="22490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7F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5395675" y="5733098"/>
            <a:ext cx="230552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7F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 × LenScore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777401" y="5733098"/>
            <a:ext cx="22490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7F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8078510" y="5733098"/>
            <a:ext cx="306156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 × Hallucination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14400" y="6517957"/>
            <a:ext cx="5359361" cy="182499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26820" y="6830378"/>
            <a:ext cx="487655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Recall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226820" y="7352348"/>
            <a:ext cx="4876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|pred ∩ src| / |src|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26820" y="7710487"/>
            <a:ext cx="4876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số liệu giữ được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464261" y="6517957"/>
            <a:ext cx="5359361" cy="182499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76681" y="6830378"/>
            <a:ext cx="487655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776681" y="7352348"/>
            <a:ext cx="4876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|pred \ src| / |pred|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76681" y="7710487"/>
            <a:ext cx="4876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số bịa ra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014121" y="6517957"/>
            <a:ext cx="5359361" cy="182499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326541" y="6830378"/>
            <a:ext cx="487655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Score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2326541" y="7352348"/>
            <a:ext cx="4876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f(ratio, target = 0.225)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326541" y="7710487"/>
            <a:ext cx="4876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1.0 nếu ratio ∈ [20%, 25%]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9063990"/>
            <a:ext cx="16459200" cy="9525"/>
          </a:xfrm>
          <a:prstGeom prst="rect">
            <a:avLst/>
          </a:prstGeom>
          <a:solidFill>
            <a:srgbClr val="D9D3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rot="2700000">
            <a:off x="914400" y="9336405"/>
            <a:ext cx="209550" cy="209550"/>
          </a:xfrm>
          <a:prstGeom prst="rect">
            <a:avLst/>
          </a:prstGeom>
          <a:solidFill>
            <a:srgbClr val="0E6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238250" y="9281160"/>
            <a:ext cx="5103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FINAL · TÓM TẮT Y TẾ TIẾNG VIỆT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413004" y="9281160"/>
            <a:ext cx="10367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6B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69529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24" dirty="0">
                <a:solidFill>
                  <a:srgbClr val="F7F3E9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TỔNG KẾT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3924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9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&amp; hướng phát triển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606040"/>
            <a:ext cx="685800" cy="38100"/>
          </a:xfrm>
          <a:prstGeom prst="rect">
            <a:avLst/>
          </a:prstGeom>
          <a:solidFill>
            <a:srgbClr val="D4B2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3101340"/>
            <a:ext cx="5651064" cy="3288030"/>
          </a:xfrm>
          <a:prstGeom prst="roundRect">
            <a:avLst>
              <a:gd name="adj" fmla="val 1159"/>
            </a:avLst>
          </a:prstGeom>
          <a:solidFill>
            <a:srgbClr val="1D222B"/>
          </a:solidFill>
          <a:ln w="762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6820" y="3413760"/>
            <a:ext cx="51770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7FC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ĐÓNG GÓP CHÍNH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6820" y="3905250"/>
            <a:ext cx="517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3 giai đoạn cho low-resource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6820" y="4362450"/>
            <a:ext cx="517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nhãn extractive · 100% number acc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6820" y="4819650"/>
            <a:ext cx="517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Number-aware reranking · không train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26820" y="5276850"/>
            <a:ext cx="517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với PPO · reward domain y tế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26820" y="5734050"/>
            <a:ext cx="517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D4B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fair ViT5 vs BARTpho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32164" y="3101340"/>
            <a:ext cx="5137309" cy="3288030"/>
          </a:xfrm>
          <a:prstGeom prst="roundRect">
            <a:avLst>
              <a:gd name="adj" fmla="val 1159"/>
            </a:avLst>
          </a:prstGeom>
          <a:solidFill>
            <a:srgbClr val="1D222B"/>
          </a:solidFill>
          <a:ln w="762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44584" y="3413760"/>
            <a:ext cx="464784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F4A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HẠN CHẾ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84564" y="3905250"/>
            <a:ext cx="4748689" cy="1329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 nhỏ (979 mẫu)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Chưa human evaluation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RL chưa scale toàn bộ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236173" y="3101340"/>
            <a:ext cx="5137428" cy="3288030"/>
          </a:xfrm>
          <a:prstGeom prst="roundRect">
            <a:avLst>
              <a:gd name="adj" fmla="val 1159"/>
            </a:avLst>
          </a:prstGeom>
          <a:solidFill>
            <a:srgbClr val="1D222B"/>
          </a:solidFill>
          <a:ln w="762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548592" y="3413760"/>
            <a:ext cx="46479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288" dirty="0">
                <a:solidFill>
                  <a:srgbClr val="9FD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HƯỚNG PHÁT TRIỂN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88572" y="3905250"/>
            <a:ext cx="4748808" cy="17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Mở rộng dataset y tế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Abstractive labeling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LLM-as-judge evaluation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production API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7730490"/>
            <a:ext cx="164592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8309610"/>
            <a:ext cx="8026788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4200" b="1" kern="0" spc="-42" dirty="0">
                <a:solidFill>
                  <a:srgbClr val="F7F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thầy/cô đã lắng nghe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14400" y="9151620"/>
            <a:ext cx="802678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F7F3E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sẵn sàng giải đáp thắc mắc.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413242" y="9204960"/>
            <a:ext cx="10365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7F3E9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4464</Words>
  <Application>Microsoft Office PowerPoint</Application>
  <PresentationFormat>Custom</PresentationFormat>
  <Paragraphs>953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nhan nguyen</cp:lastModifiedBy>
  <cp:revision>2</cp:revision>
  <dcterms:created xsi:type="dcterms:W3CDTF">2026-05-10T16:38:50Z</dcterms:created>
  <dcterms:modified xsi:type="dcterms:W3CDTF">2026-05-17T08:21:26Z</dcterms:modified>
</cp:coreProperties>
</file>